
<file path=[Content_Types].xml><?xml version="1.0" encoding="utf-8"?>
<Types xmlns="http://schemas.openxmlformats.org/package/2006/content-types">
  <Default Extension="bmp" ContentType="image/bmp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ebp" ContentType="image/webp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92024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subtitle"/>
          <p:cNvSpPr/>
          <p:nvPr>
            <p:ph type="subTitle"/>
          </p:nvPr>
        </p:nvSpPr>
        <p:spPr>
          <a:xfrm>
            <a:off x="609600" y="339344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"/>
          <p:cNvSpPr/>
          <p:nvPr>
            <p:ph type="body"/>
          </p:nvPr>
        </p:nvSpPr>
        <p:spPr>
          <a:xfrm>
            <a:off x="609600" y="1625600"/>
            <a:ext cx="109728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71450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"/>
          <p:cNvSpPr/>
          <p:nvPr>
            <p:ph type="body"/>
          </p:nvPr>
        </p:nvSpPr>
        <p:spPr>
          <a:xfrm>
            <a:off x="609600" y="31877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-left"/>
          <p:cNvSpPr/>
          <p:nvPr>
            <p:ph type="body" idx="1"/>
          </p:nvPr>
        </p:nvSpPr>
        <p:spPr>
          <a:xfrm>
            <a:off x="6096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body-right"/>
          <p:cNvSpPr/>
          <p:nvPr>
            <p:ph type="body" idx="2"/>
          </p:nvPr>
        </p:nvSpPr>
        <p:spPr>
          <a:xfrm>
            <a:off x="62230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-left"/>
          <p:cNvSpPr/>
          <p:nvPr>
            <p:ph type="body" idx="1"/>
          </p:nvPr>
        </p:nvSpPr>
        <p:spPr>
          <a:xfrm>
            <a:off x="6096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text-right"/>
          <p:cNvSpPr/>
          <p:nvPr>
            <p:ph type="body" idx="2"/>
          </p:nvPr>
        </p:nvSpPr>
        <p:spPr>
          <a:xfrm>
            <a:off x="62230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5" name="ph-body-left"/>
          <p:cNvSpPr/>
          <p:nvPr>
            <p:ph type="body" idx="1"/>
          </p:nvPr>
        </p:nvSpPr>
        <p:spPr>
          <a:xfrm>
            <a:off x="6096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6" name="ph-body-right"/>
          <p:cNvSpPr/>
          <p:nvPr>
            <p:ph type="body" idx="2"/>
          </p:nvPr>
        </p:nvSpPr>
        <p:spPr>
          <a:xfrm>
            <a:off x="62230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picture"/>
          <p:cNvSpPr/>
          <p:nvPr>
            <p:ph type="pic"/>
          </p:nvPr>
        </p:nvSpPr>
        <p:spPr>
          <a:xfrm>
            <a:off x="609600" y="406400"/>
            <a:ext cx="10972800" cy="4927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caption"/>
          <p:cNvSpPr/>
          <p:nvPr>
            <p:ph type="body"/>
          </p:nvPr>
        </p:nvSpPr>
        <p:spPr>
          <a:xfrm>
            <a:off x="609600" y="55372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ellipse 1"/>
          <p:cNvSpPr/>
          <p:nvPr/>
        </p:nvSpPr>
        <p:spPr>
          <a:xfrm>
            <a:off x="8509000" y="3302000"/>
            <a:ext cx="5334000" cy="5334000"/>
          </a:xfrm>
          <a:prstGeom prst="ellipse">
            <a:avLst/>
          </a:prstGeom>
          <a:solidFill>
            <a:srgbClr val="2E6FB7">
              <a:alpha val="30000"/>
            </a:srgbClr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5" name="ellipse 2"/>
          <p:cNvSpPr/>
          <p:nvPr/>
        </p:nvSpPr>
        <p:spPr>
          <a:xfrm>
            <a:off x="9398000" y="4191000"/>
            <a:ext cx="3556000" cy="3556000"/>
          </a:xfrm>
          <a:prstGeom prst="ellipse">
            <a:avLst/>
          </a:prstGeom>
          <a:solidFill>
            <a:srgbClr val="2E6FB7">
              <a:alpha val="35000"/>
            </a:srgbClr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6" name="ellipse 3"/>
          <p:cNvSpPr/>
          <p:nvPr/>
        </p:nvSpPr>
        <p:spPr>
          <a:xfrm>
            <a:off x="381000" y="-381000"/>
            <a:ext cx="2286000" cy="2286000"/>
          </a:xfrm>
          <a:prstGeom prst="ellipse">
            <a:avLst/>
          </a:prstGeom>
          <a:solidFill>
            <a:srgbClr val="D9A324">
              <a:alpha val="10000"/>
            </a:srgbClr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7" name="rect 3"/>
          <p:cNvSpPr/>
          <p:nvPr/>
        </p:nvSpPr>
        <p:spPr>
          <a:xfrm>
            <a:off x="10236200" y="685800"/>
            <a:ext cx="1143000" cy="76200"/>
          </a:xfrm>
          <a:prstGeom prst="rect">
            <a:avLst/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8" name="rect 4"/>
          <p:cNvSpPr/>
          <p:nvPr/>
        </p:nvSpPr>
        <p:spPr>
          <a:xfrm>
            <a:off x="10236200" y="889000"/>
            <a:ext cx="736600" cy="762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9" name="rect 5"/>
          <p:cNvSpPr/>
          <p:nvPr/>
        </p:nvSpPr>
        <p:spPr>
          <a:xfrm>
            <a:off x="812800" y="1638300"/>
            <a:ext cx="24638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2000" b="1">
                <a:solidFill>
                  <a:srgbClr val="D9A324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2026 Q3 · 销售复盘</a:t>
            </a:r>
          </a:p>
        </p:txBody>
      </p:sp>
      <p:sp>
        <p:nvSpPr>
          <p:cNvPr id="10" name="rect 6"/>
          <p:cNvSpPr/>
          <p:nvPr/>
        </p:nvSpPr>
        <p:spPr>
          <a:xfrm>
            <a:off x="812800" y="2235200"/>
            <a:ext cx="7721600" cy="914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60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第三季度销售情况说明</a:t>
            </a:r>
          </a:p>
        </p:txBody>
      </p:sp>
      <p:sp>
        <p:nvSpPr>
          <p:cNvPr id="11" name="rect 7"/>
          <p:cNvSpPr/>
          <p:nvPr/>
        </p:nvSpPr>
        <p:spPr>
          <a:xfrm>
            <a:off x="812800" y="3390900"/>
            <a:ext cx="4419600" cy="368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2400">
                <a:solidFill>
                  <a:srgbClr val="C8D8EC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7 — 9 月营收、成本与利润表现</a:t>
            </a:r>
          </a:p>
        </p:txBody>
      </p:sp>
      <p:sp>
        <p:nvSpPr>
          <p:cNvPr id="12" name="rect 8"/>
          <p:cNvSpPr/>
          <p:nvPr/>
        </p:nvSpPr>
        <p:spPr>
          <a:xfrm>
            <a:off x="812800" y="4318000"/>
            <a:ext cx="914400" cy="50800"/>
          </a:xfrm>
          <a:prstGeom prst="rect">
            <a:avLst/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3" name="rect 9"/>
          <p:cNvSpPr/>
          <p:nvPr/>
        </p:nvSpPr>
        <p:spPr>
          <a:xfrm>
            <a:off x="812800" y="4978400"/>
            <a:ext cx="673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8FA9C6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销售额</a:t>
            </a:r>
          </a:p>
        </p:txBody>
      </p:sp>
      <p:sp>
        <p:nvSpPr>
          <p:cNvPr id="14" name="rect 10"/>
          <p:cNvSpPr/>
          <p:nvPr/>
        </p:nvSpPr>
        <p:spPr>
          <a:xfrm>
            <a:off x="812800" y="5207000"/>
            <a:ext cx="24130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$3,493,850</a:t>
            </a:r>
          </a:p>
        </p:txBody>
      </p:sp>
      <p:sp>
        <p:nvSpPr>
          <p:cNvPr id="15" name="rect 11"/>
          <p:cNvSpPr/>
          <p:nvPr/>
        </p:nvSpPr>
        <p:spPr>
          <a:xfrm>
            <a:off x="4191000" y="4953000"/>
            <a:ext cx="12700" cy="762000"/>
          </a:xfrm>
          <a:prstGeom prst="rect">
            <a:avLst/>
          </a:prstGeom>
          <a:solidFill>
            <a:srgbClr val="3E638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6" name="rect 12"/>
          <p:cNvSpPr/>
          <p:nvPr/>
        </p:nvSpPr>
        <p:spPr>
          <a:xfrm>
            <a:off x="4699000" y="4978400"/>
            <a:ext cx="482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8FA9C6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利润</a:t>
            </a:r>
          </a:p>
        </p:txBody>
      </p:sp>
      <p:sp>
        <p:nvSpPr>
          <p:cNvPr id="17" name="rect 13"/>
          <p:cNvSpPr/>
          <p:nvPr/>
        </p:nvSpPr>
        <p:spPr>
          <a:xfrm>
            <a:off x="4699000" y="5207000"/>
            <a:ext cx="22479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3400" b="1">
                <a:solidFill>
                  <a:srgbClr val="D9A324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$1,142,600</a:t>
            </a:r>
          </a:p>
        </p:txBody>
      </p:sp>
      <p:sp>
        <p:nvSpPr>
          <p:cNvPr id="18" name="rect 14"/>
          <p:cNvSpPr/>
          <p:nvPr/>
        </p:nvSpPr>
        <p:spPr>
          <a:xfrm>
            <a:off x="8255000" y="4953000"/>
            <a:ext cx="12700" cy="762000"/>
          </a:xfrm>
          <a:prstGeom prst="rect">
            <a:avLst/>
          </a:prstGeom>
          <a:solidFill>
            <a:srgbClr val="3E638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9" name="rect 15"/>
          <p:cNvSpPr/>
          <p:nvPr/>
        </p:nvSpPr>
        <p:spPr>
          <a:xfrm>
            <a:off x="8763000" y="4978400"/>
            <a:ext cx="673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8FA9C6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利润率</a:t>
            </a:r>
          </a:p>
        </p:txBody>
      </p:sp>
      <p:sp>
        <p:nvSpPr>
          <p:cNvPr id="20" name="rect 16"/>
          <p:cNvSpPr/>
          <p:nvPr/>
        </p:nvSpPr>
        <p:spPr>
          <a:xfrm>
            <a:off x="8763000" y="5207000"/>
            <a:ext cx="14097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32.7%</a:t>
            </a:r>
          </a:p>
        </p:txBody>
      </p:sp>
      <p:sp>
        <p:nvSpPr>
          <p:cNvPr id="21" name="rect 17"/>
          <p:cNvSpPr/>
          <p:nvPr/>
        </p:nvSpPr>
        <p:spPr>
          <a:xfrm>
            <a:off x="812800" y="6273800"/>
            <a:ext cx="10566400" cy="12700"/>
          </a:xfrm>
          <a:prstGeom prst="rect">
            <a:avLst/>
          </a:prstGeom>
          <a:solidFill>
            <a:srgbClr val="2C5480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2" name="rect 18"/>
          <p:cNvSpPr/>
          <p:nvPr/>
        </p:nvSpPr>
        <p:spPr>
          <a:xfrm>
            <a:off x="812800" y="6400800"/>
            <a:ext cx="3213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7E9AB8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数据来源：q3-sales.xlsx ｜ 2026-09-22</a:t>
            </a:r>
          </a:p>
        </p:txBody>
      </p:sp>
      <p:sp>
        <p:nvSpPr>
          <p:cNvPr id="23" name="rect 19"/>
          <p:cNvSpPr/>
          <p:nvPr/>
        </p:nvSpPr>
        <p:spPr>
          <a:xfrm>
            <a:off x="10756900" y="6400800"/>
            <a:ext cx="622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7000"/>
              </a:lnSpc>
              <a:buNone/>
            </a:pPr>
            <a:r>
              <a:rPr lang="en-US" sz="1300">
                <a:solidFill>
                  <a:srgbClr val="7E9AB8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P 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结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812800" y="660400"/>
            <a:ext cx="76200" cy="355600"/>
          </a:xfrm>
          <a:prstGeom prst="rect">
            <a:avLst/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5" name="rect 4"/>
          <p:cNvSpPr/>
          <p:nvPr/>
        </p:nvSpPr>
        <p:spPr>
          <a:xfrm>
            <a:off x="1066800" y="558800"/>
            <a:ext cx="4673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3000" b="1">
                <a:solidFill>
                  <a:srgbClr val="0F172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结论：营收与利润同步增长</a:t>
            </a:r>
          </a:p>
        </p:txBody>
      </p:sp>
      <p:sp>
        <p:nvSpPr>
          <p:cNvPr id="6" name="rect 5"/>
          <p:cNvSpPr/>
          <p:nvPr/>
        </p:nvSpPr>
        <p:spPr>
          <a:xfrm>
            <a:off x="10680700" y="774700"/>
            <a:ext cx="6985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4000"/>
              </a:lnSpc>
              <a:buNone/>
            </a:pPr>
            <a:r>
              <a:rPr lang="en-US" sz="1400">
                <a:solidFill>
                  <a:srgbClr val="5B6B7F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P 2 / 6</a:t>
            </a:r>
          </a:p>
        </p:txBody>
      </p:sp>
      <p:sp>
        <p:nvSpPr>
          <p:cNvPr id="7" name="rect 6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8" name="roundRect 1"/>
          <p:cNvSpPr/>
          <p:nvPr/>
        </p:nvSpPr>
        <p:spPr>
          <a:xfrm>
            <a:off x="812800" y="1651000"/>
            <a:ext cx="3276600" cy="2921000"/>
          </a:xfrm>
          <a:prstGeom prst="roundRect">
            <a:avLst>
              <a:gd fmla="val 4348" name="adj"/>
            </a:avLst>
          </a:prstGeom>
          <a:solidFill>
            <a:srgbClr val="E8F0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Rect 2"/>
          <p:cNvSpPr/>
          <p:nvPr/>
        </p:nvSpPr>
        <p:spPr>
          <a:xfrm>
            <a:off x="812800" y="1651000"/>
            <a:ext cx="3276600" cy="76200"/>
          </a:xfrm>
          <a:prstGeom prst="roundRect">
            <a:avLst>
              <a:gd fmla="val 50000" name="adj"/>
            </a:avLst>
          </a:prstGeom>
          <a:solidFill>
            <a:srgbClr val="2E6FB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 7"/>
          <p:cNvSpPr/>
          <p:nvPr/>
        </p:nvSpPr>
        <p:spPr>
          <a:xfrm>
            <a:off x="1168400" y="2095500"/>
            <a:ext cx="11176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 b="1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季度销售额</a:t>
            </a:r>
          </a:p>
        </p:txBody>
      </p:sp>
      <p:sp>
        <p:nvSpPr>
          <p:cNvPr id="11" name="rect 8"/>
          <p:cNvSpPr/>
          <p:nvPr/>
        </p:nvSpPr>
        <p:spPr>
          <a:xfrm>
            <a:off x="1168400" y="2717800"/>
            <a:ext cx="2552700" cy="546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3600" b="1">
                <a:solidFill>
                  <a:srgbClr val="123A63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$3,493,850</a:t>
            </a:r>
          </a:p>
        </p:txBody>
      </p:sp>
      <p:sp>
        <p:nvSpPr>
          <p:cNvPr id="12" name="rect 9"/>
          <p:cNvSpPr/>
          <p:nvPr/>
        </p:nvSpPr>
        <p:spPr>
          <a:xfrm>
            <a:off x="1168400" y="3581400"/>
            <a:ext cx="711200" cy="381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3" name="rect 10"/>
          <p:cNvSpPr/>
          <p:nvPr/>
        </p:nvSpPr>
        <p:spPr>
          <a:xfrm>
            <a:off x="1168400" y="3835400"/>
            <a:ext cx="1409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8 月环比 +23.0%</a:t>
            </a:r>
          </a:p>
        </p:txBody>
      </p:sp>
      <p:sp>
        <p:nvSpPr>
          <p:cNvPr id="14" name="rect 11"/>
          <p:cNvSpPr/>
          <p:nvPr/>
        </p:nvSpPr>
        <p:spPr>
          <a:xfrm>
            <a:off x="1168400" y="4140200"/>
            <a:ext cx="1371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9 月环比 +13.2%</a:t>
            </a:r>
          </a:p>
        </p:txBody>
      </p:sp>
      <p:sp>
        <p:nvSpPr>
          <p:cNvPr id="15" name="roundRect 3"/>
          <p:cNvSpPr/>
          <p:nvPr/>
        </p:nvSpPr>
        <p:spPr>
          <a:xfrm>
            <a:off x="4457700" y="1651000"/>
            <a:ext cx="3276600" cy="2921000"/>
          </a:xfrm>
          <a:prstGeom prst="roundRect">
            <a:avLst>
              <a:gd fmla="val 4348" name="adj"/>
            </a:avLst>
          </a:prstGeom>
          <a:solidFill>
            <a:srgbClr val="FBF1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Rect 4"/>
          <p:cNvSpPr/>
          <p:nvPr/>
        </p:nvSpPr>
        <p:spPr>
          <a:xfrm>
            <a:off x="4457700" y="1651000"/>
            <a:ext cx="3276600" cy="76200"/>
          </a:xfrm>
          <a:prstGeom prst="roundRect">
            <a:avLst>
              <a:gd fmla="val 50000" name="adj"/>
            </a:avLst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2"/>
          <p:cNvSpPr/>
          <p:nvPr/>
        </p:nvSpPr>
        <p:spPr>
          <a:xfrm>
            <a:off x="4813300" y="2095500"/>
            <a:ext cx="9144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 b="1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季度利润</a:t>
            </a:r>
          </a:p>
        </p:txBody>
      </p:sp>
      <p:sp>
        <p:nvSpPr>
          <p:cNvPr id="18" name="rect 13"/>
          <p:cNvSpPr/>
          <p:nvPr/>
        </p:nvSpPr>
        <p:spPr>
          <a:xfrm>
            <a:off x="4813300" y="2717800"/>
            <a:ext cx="2374900" cy="546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3600" b="1">
                <a:solidFill>
                  <a:srgbClr val="B8860B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$1,142,600</a:t>
            </a:r>
          </a:p>
        </p:txBody>
      </p:sp>
      <p:sp>
        <p:nvSpPr>
          <p:cNvPr id="19" name="rect 14"/>
          <p:cNvSpPr/>
          <p:nvPr/>
        </p:nvSpPr>
        <p:spPr>
          <a:xfrm>
            <a:off x="4813300" y="3581400"/>
            <a:ext cx="711200" cy="38100"/>
          </a:xfrm>
          <a:prstGeom prst="rect">
            <a:avLst/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0" name="rect 15"/>
          <p:cNvSpPr/>
          <p:nvPr/>
        </p:nvSpPr>
        <p:spPr>
          <a:xfrm>
            <a:off x="4813300" y="3835400"/>
            <a:ext cx="1409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8 月环比 +39.9%</a:t>
            </a:r>
          </a:p>
        </p:txBody>
      </p:sp>
      <p:sp>
        <p:nvSpPr>
          <p:cNvPr id="21" name="rect 16"/>
          <p:cNvSpPr/>
          <p:nvPr/>
        </p:nvSpPr>
        <p:spPr>
          <a:xfrm>
            <a:off x="4813300" y="4140200"/>
            <a:ext cx="1371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9 月环比 +18.6%</a:t>
            </a:r>
          </a:p>
        </p:txBody>
      </p:sp>
      <p:sp>
        <p:nvSpPr>
          <p:cNvPr id="22" name="roundRect 5"/>
          <p:cNvSpPr/>
          <p:nvPr/>
        </p:nvSpPr>
        <p:spPr>
          <a:xfrm>
            <a:off x="8102600" y="1651000"/>
            <a:ext cx="3276600" cy="2921000"/>
          </a:xfrm>
          <a:prstGeom prst="roundRect">
            <a:avLst>
              <a:gd fmla="val 4348" name="adj"/>
            </a:avLst>
          </a:prstGeom>
          <a:solidFill>
            <a:srgbClr val="E8F0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Rect 6"/>
          <p:cNvSpPr/>
          <p:nvPr/>
        </p:nvSpPr>
        <p:spPr>
          <a:xfrm>
            <a:off x="8102600" y="1651000"/>
            <a:ext cx="3276600" cy="76200"/>
          </a:xfrm>
          <a:prstGeom prst="roundRect">
            <a:avLst>
              <a:gd fmla="val 50000" name="adj"/>
            </a:avLst>
          </a:prstGeom>
          <a:solidFill>
            <a:srgbClr val="123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 17"/>
          <p:cNvSpPr/>
          <p:nvPr/>
        </p:nvSpPr>
        <p:spPr>
          <a:xfrm>
            <a:off x="8458200" y="2095500"/>
            <a:ext cx="11176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 b="1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季度利润率</a:t>
            </a:r>
          </a:p>
        </p:txBody>
      </p:sp>
      <p:sp>
        <p:nvSpPr>
          <p:cNvPr id="25" name="rect 18"/>
          <p:cNvSpPr/>
          <p:nvPr/>
        </p:nvSpPr>
        <p:spPr>
          <a:xfrm>
            <a:off x="8458200" y="2717800"/>
            <a:ext cx="1485900" cy="546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3600" b="1">
                <a:solidFill>
                  <a:srgbClr val="123A63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32.7%</a:t>
            </a:r>
          </a:p>
        </p:txBody>
      </p:sp>
      <p:sp>
        <p:nvSpPr>
          <p:cNvPr id="26" name="rect 19"/>
          <p:cNvSpPr/>
          <p:nvPr/>
        </p:nvSpPr>
        <p:spPr>
          <a:xfrm>
            <a:off x="8458200" y="3581400"/>
            <a:ext cx="711200" cy="381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7" name="rect 20"/>
          <p:cNvSpPr/>
          <p:nvPr/>
        </p:nvSpPr>
        <p:spPr>
          <a:xfrm>
            <a:off x="8458200" y="3835400"/>
            <a:ext cx="1193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由 7 月 29.2%</a:t>
            </a:r>
          </a:p>
        </p:txBody>
      </p:sp>
      <p:sp>
        <p:nvSpPr>
          <p:cNvPr id="28" name="rect 21"/>
          <p:cNvSpPr/>
          <p:nvPr/>
        </p:nvSpPr>
        <p:spPr>
          <a:xfrm>
            <a:off x="8458200" y="4140200"/>
            <a:ext cx="1358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升至 9 月 34.8%</a:t>
            </a:r>
          </a:p>
        </p:txBody>
      </p:sp>
      <p:sp>
        <p:nvSpPr>
          <p:cNvPr id="29" name="roundRect 7"/>
          <p:cNvSpPr/>
          <p:nvPr/>
        </p:nvSpPr>
        <p:spPr>
          <a:xfrm>
            <a:off x="812800" y="5029200"/>
            <a:ext cx="10566400" cy="914400"/>
          </a:xfrm>
          <a:prstGeom prst="roundRect">
            <a:avLst>
              <a:gd fmla="val 13889" name="adj"/>
            </a:avLst>
          </a:prstGeom>
          <a:solidFill>
            <a:srgbClr val="123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Rect 8"/>
          <p:cNvSpPr/>
          <p:nvPr/>
        </p:nvSpPr>
        <p:spPr>
          <a:xfrm>
            <a:off x="812800" y="5029200"/>
            <a:ext cx="76200" cy="914400"/>
          </a:xfrm>
          <a:prstGeom prst="roundRect">
            <a:avLst>
              <a:gd fmla="val 50000" name="adj"/>
            </a:avLst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 22"/>
          <p:cNvSpPr/>
          <p:nvPr/>
        </p:nvSpPr>
        <p:spPr>
          <a:xfrm>
            <a:off x="1244600" y="5359400"/>
            <a:ext cx="70358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7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增长主要来自销售额提升，而非削成本；成本率由 70.8% 降至 65.2%。</a:t>
            </a:r>
          </a:p>
        </p:txBody>
      </p:sp>
      <p:sp>
        <p:nvSpPr>
          <p:cNvPr id="32" name="rect 23"/>
          <p:cNvSpPr/>
          <p:nvPr/>
        </p:nvSpPr>
        <p:spPr>
          <a:xfrm>
            <a:off x="812800" y="6324600"/>
            <a:ext cx="3048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8A99A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数据来源：q3-sales.xlsx ｜ 单位：美元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月度趋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812800" y="660400"/>
            <a:ext cx="76200" cy="355600"/>
          </a:xfrm>
          <a:prstGeom prst="rect">
            <a:avLst/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5" name="rect 4"/>
          <p:cNvSpPr/>
          <p:nvPr/>
        </p:nvSpPr>
        <p:spPr>
          <a:xfrm>
            <a:off x="1066800" y="558800"/>
            <a:ext cx="5816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3000" b="1">
                <a:solidFill>
                  <a:srgbClr val="0F172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月度趋势：销售额三个月连续上行</a:t>
            </a:r>
          </a:p>
        </p:txBody>
      </p:sp>
      <p:sp>
        <p:nvSpPr>
          <p:cNvPr id="6" name="rect 5"/>
          <p:cNvSpPr/>
          <p:nvPr/>
        </p:nvSpPr>
        <p:spPr>
          <a:xfrm>
            <a:off x="10680700" y="774700"/>
            <a:ext cx="6985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4000"/>
              </a:lnSpc>
              <a:buNone/>
            </a:pPr>
            <a:r>
              <a:rPr lang="en-US" sz="1400">
                <a:solidFill>
                  <a:srgbClr val="5B6B7F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P 3 / 6</a:t>
            </a:r>
          </a:p>
        </p:txBody>
      </p:sp>
      <p:sp>
        <p:nvSpPr>
          <p:cNvPr id="7" name="rect 6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8" name="ellipse 1"/>
          <p:cNvSpPr/>
          <p:nvPr/>
        </p:nvSpPr>
        <p:spPr>
          <a:xfrm>
            <a:off x="8826500" y="1511300"/>
            <a:ext cx="127000" cy="127000"/>
          </a:xfrm>
          <a:prstGeom prst="ellipse">
            <a:avLst/>
          </a:prstGeom>
          <a:solidFill>
            <a:srgbClr val="2E6FB7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9" name="rect 7"/>
          <p:cNvSpPr/>
          <p:nvPr/>
        </p:nvSpPr>
        <p:spPr>
          <a:xfrm>
            <a:off x="9042400" y="1447800"/>
            <a:ext cx="635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 b="1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销售额</a:t>
            </a:r>
          </a:p>
        </p:txBody>
      </p:sp>
      <p:sp>
        <p:nvSpPr>
          <p:cNvPr id="10" name="ellipse 2"/>
          <p:cNvSpPr/>
          <p:nvPr/>
        </p:nvSpPr>
        <p:spPr>
          <a:xfrm>
            <a:off x="9969500" y="1511300"/>
            <a:ext cx="127000" cy="127000"/>
          </a:xfrm>
          <a:prstGeom prst="ellipse">
            <a:avLst/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1" name="rect 8"/>
          <p:cNvSpPr/>
          <p:nvPr/>
        </p:nvSpPr>
        <p:spPr>
          <a:xfrm>
            <a:off x="10185400" y="1447800"/>
            <a:ext cx="457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 b="1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利润</a:t>
            </a:r>
          </a:p>
        </p:txBody>
      </p:sp>
      <p:sp>
        <p:nvSpPr>
          <p:cNvPr id="12" name="rect 9"/>
          <p:cNvSpPr/>
          <p:nvPr/>
        </p:nvSpPr>
        <p:spPr>
          <a:xfrm>
            <a:off x="1397000" y="1460500"/>
            <a:ext cx="1879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8A99A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纵轴 0 — 600,000 美元</a:t>
            </a:r>
          </a:p>
        </p:txBody>
      </p:sp>
      <p:sp>
        <p:nvSpPr>
          <p:cNvPr id="13" name="rect 10"/>
          <p:cNvSpPr/>
          <p:nvPr/>
        </p:nvSpPr>
        <p:spPr>
          <a:xfrm>
            <a:off x="1397000" y="3302000"/>
            <a:ext cx="9779000" cy="12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4" name="rect 11"/>
          <p:cNvSpPr/>
          <p:nvPr/>
        </p:nvSpPr>
        <p:spPr>
          <a:xfrm>
            <a:off x="1397000" y="4064000"/>
            <a:ext cx="9779000" cy="12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5" name="rect 12"/>
          <p:cNvSpPr/>
          <p:nvPr/>
        </p:nvSpPr>
        <p:spPr>
          <a:xfrm>
            <a:off x="1397000" y="4826000"/>
            <a:ext cx="9779000" cy="12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6" name="rect 13"/>
          <p:cNvSpPr/>
          <p:nvPr/>
        </p:nvSpPr>
        <p:spPr>
          <a:xfrm>
            <a:off x="787400" y="3200400"/>
            <a:ext cx="4826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5000"/>
              </a:lnSpc>
              <a:buNone/>
            </a:pPr>
            <a:r>
              <a:rPr lang="en-US" sz="1200">
                <a:solidFill>
                  <a:srgbClr val="8A99AB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500K</a:t>
            </a:r>
          </a:p>
        </p:txBody>
      </p:sp>
      <p:sp>
        <p:nvSpPr>
          <p:cNvPr id="17" name="rect 14"/>
          <p:cNvSpPr/>
          <p:nvPr/>
        </p:nvSpPr>
        <p:spPr>
          <a:xfrm>
            <a:off x="787400" y="3962400"/>
            <a:ext cx="4826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5000"/>
              </a:lnSpc>
              <a:buNone/>
            </a:pPr>
            <a:r>
              <a:rPr lang="en-US" sz="1200">
                <a:solidFill>
                  <a:srgbClr val="8A99AB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400K</a:t>
            </a:r>
          </a:p>
        </p:txBody>
      </p:sp>
      <p:sp>
        <p:nvSpPr>
          <p:cNvPr id="18" name="rect 15"/>
          <p:cNvSpPr/>
          <p:nvPr/>
        </p:nvSpPr>
        <p:spPr>
          <a:xfrm>
            <a:off x="787400" y="4724400"/>
            <a:ext cx="4826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5000"/>
              </a:lnSpc>
              <a:buNone/>
            </a:pPr>
            <a:r>
              <a:rPr lang="en-US" sz="1200">
                <a:solidFill>
                  <a:srgbClr val="8A99AB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300K</a:t>
            </a:r>
          </a:p>
        </p:txBody>
      </p:sp>
      <p:sp>
        <p:nvSpPr>
          <p:cNvPr id="19" name="rect 16"/>
          <p:cNvSpPr/>
          <p:nvPr/>
        </p:nvSpPr>
        <p:spPr>
          <a:xfrm>
            <a:off x="1397000" y="5334000"/>
            <a:ext cx="9779000" cy="12700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0" name="rect 17"/>
          <p:cNvSpPr/>
          <p:nvPr/>
        </p:nvSpPr>
        <p:spPr>
          <a:xfrm>
            <a:off x="1397000" y="4978400"/>
            <a:ext cx="9779000" cy="660400"/>
          </a:xfrm>
          <a:custGeom>
            <a:avLst/>
            <a:gdLst/>
            <a:ahLst/>
            <a:cxnLst/>
            <a:rect l="0" t="0" r="0" b="0"/>
            <a:pathLst>
              <a:path w="770" h="52">
                <a:moveTo>
                  <a:pt x="0" y="52"/>
                </a:moveTo>
                <a:lnTo>
                  <a:pt x="770" y="52"/>
                </a:lnTo>
                <a:lnTo>
                  <a:pt x="0" y="0"/>
                </a:lnTo>
                <a:close/>
              </a:path>
            </a:pathLst>
          </a:custGeom>
          <a:solidFill>
            <a:srgbClr val="E4EDF8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1" name="rect 18"/>
          <p:cNvSpPr/>
          <p:nvPr/>
        </p:nvSpPr>
        <p:spPr>
          <a:xfrm>
            <a:off x="1397000" y="5054600"/>
            <a:ext cx="9779000" cy="584200"/>
          </a:xfrm>
          <a:custGeom>
            <a:avLst/>
            <a:gdLst/>
            <a:ahLst/>
            <a:cxnLst/>
            <a:rect l="0" t="0" r="0" b="0"/>
            <a:pathLst>
              <a:path w="770" h="46">
                <a:moveTo>
                  <a:pt x="0" y="0"/>
                </a:moveTo>
                <a:lnTo>
                  <a:pt x="385" y="2"/>
                </a:lnTo>
                <a:lnTo>
                  <a:pt x="770" y="46"/>
                </a:lnTo>
              </a:path>
            </a:pathLst>
          </a:custGeom>
          <a:noFill/>
          <a:ln w="44450">
            <a:solidFill>
              <a:srgbClr val="2E6FB7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2" name="rect 19"/>
          <p:cNvSpPr/>
          <p:nvPr/>
        </p:nvSpPr>
        <p:spPr>
          <a:xfrm>
            <a:off x="1397000" y="4140200"/>
            <a:ext cx="9779000" cy="444500"/>
          </a:xfrm>
          <a:custGeom>
            <a:avLst/>
            <a:gdLst/>
            <a:ahLst/>
            <a:cxnLst/>
            <a:rect l="0" t="0" r="0" b="0"/>
            <a:pathLst>
              <a:path w="770" h="35">
                <a:moveTo>
                  <a:pt x="0" y="35"/>
                </a:moveTo>
                <a:lnTo>
                  <a:pt x="385" y="21"/>
                </a:lnTo>
                <a:lnTo>
                  <a:pt x="770" y="0"/>
                </a:lnTo>
              </a:path>
            </a:pathLst>
          </a:custGeom>
          <a:noFill/>
          <a:ln w="44450">
            <a:solidFill>
              <a:srgbClr val="D9A324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3" name="ellipse 3"/>
          <p:cNvSpPr/>
          <p:nvPr/>
        </p:nvSpPr>
        <p:spPr>
          <a:xfrm>
            <a:off x="1320800" y="4978400"/>
            <a:ext cx="152400" cy="152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E6FB7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4" name="ellipse 4"/>
          <p:cNvSpPr/>
          <p:nvPr/>
        </p:nvSpPr>
        <p:spPr>
          <a:xfrm>
            <a:off x="6210300" y="5003800"/>
            <a:ext cx="152400" cy="152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E6FB7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5" name="ellipse 5"/>
          <p:cNvSpPr/>
          <p:nvPr/>
        </p:nvSpPr>
        <p:spPr>
          <a:xfrm>
            <a:off x="11099800" y="5562600"/>
            <a:ext cx="152400" cy="152400"/>
          </a:xfrm>
          <a:prstGeom prst="ellipse">
            <a:avLst/>
          </a:prstGeom>
          <a:solidFill>
            <a:srgbClr val="2E6FB7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6" name="ellipse 6"/>
          <p:cNvSpPr/>
          <p:nvPr/>
        </p:nvSpPr>
        <p:spPr>
          <a:xfrm>
            <a:off x="1320800" y="4508500"/>
            <a:ext cx="152400" cy="152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D9A324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7" name="ellipse 7"/>
          <p:cNvSpPr/>
          <p:nvPr/>
        </p:nvSpPr>
        <p:spPr>
          <a:xfrm>
            <a:off x="6210300" y="4330700"/>
            <a:ext cx="152400" cy="152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D9A324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8" name="ellipse 8"/>
          <p:cNvSpPr/>
          <p:nvPr/>
        </p:nvSpPr>
        <p:spPr>
          <a:xfrm>
            <a:off x="11099800" y="4064000"/>
            <a:ext cx="152400" cy="152400"/>
          </a:xfrm>
          <a:prstGeom prst="ellipse">
            <a:avLst/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9" name="rect 20"/>
          <p:cNvSpPr/>
          <p:nvPr/>
        </p:nvSpPr>
        <p:spPr>
          <a:xfrm>
            <a:off x="1016000" y="4279900"/>
            <a:ext cx="762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en-US" sz="1400" b="1">
                <a:solidFill>
                  <a:srgbClr val="B8860B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281,550</a:t>
            </a:r>
          </a:p>
        </p:txBody>
      </p:sp>
      <p:sp>
        <p:nvSpPr>
          <p:cNvPr id="30" name="rect 21"/>
          <p:cNvSpPr/>
          <p:nvPr/>
        </p:nvSpPr>
        <p:spPr>
          <a:xfrm>
            <a:off x="5892800" y="4127500"/>
            <a:ext cx="78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en-US" sz="1400" b="1">
                <a:solidFill>
                  <a:srgbClr val="B8860B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393,950</a:t>
            </a:r>
          </a:p>
        </p:txBody>
      </p:sp>
      <p:sp>
        <p:nvSpPr>
          <p:cNvPr id="31" name="rect 22"/>
          <p:cNvSpPr/>
          <p:nvPr/>
        </p:nvSpPr>
        <p:spPr>
          <a:xfrm>
            <a:off x="10623550" y="3822700"/>
            <a:ext cx="7493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en-US" sz="1400" b="1">
                <a:solidFill>
                  <a:srgbClr val="B8860B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467,100</a:t>
            </a:r>
          </a:p>
        </p:txBody>
      </p:sp>
      <p:sp>
        <p:nvSpPr>
          <p:cNvPr id="32" name="rect 23"/>
          <p:cNvSpPr/>
          <p:nvPr/>
        </p:nvSpPr>
        <p:spPr>
          <a:xfrm>
            <a:off x="1003300" y="5803900"/>
            <a:ext cx="78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en-US" sz="1400" b="1">
                <a:solidFill>
                  <a:srgbClr val="123A63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964,800</a:t>
            </a:r>
          </a:p>
        </p:txBody>
      </p:sp>
      <p:sp>
        <p:nvSpPr>
          <p:cNvPr id="33" name="rect 24"/>
          <p:cNvSpPr/>
          <p:nvPr/>
        </p:nvSpPr>
        <p:spPr>
          <a:xfrm>
            <a:off x="5848350" y="5829300"/>
            <a:ext cx="8763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en-US" sz="1400" b="1">
                <a:solidFill>
                  <a:srgbClr val="123A63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1,186,350</a:t>
            </a:r>
          </a:p>
        </p:txBody>
      </p:sp>
      <p:sp>
        <p:nvSpPr>
          <p:cNvPr id="34" name="rect 25"/>
          <p:cNvSpPr/>
          <p:nvPr/>
        </p:nvSpPr>
        <p:spPr>
          <a:xfrm>
            <a:off x="10547350" y="5727700"/>
            <a:ext cx="901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en-US" sz="1400" b="1">
                <a:solidFill>
                  <a:srgbClr val="123A63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1,342,700</a:t>
            </a:r>
          </a:p>
        </p:txBody>
      </p:sp>
      <p:sp>
        <p:nvSpPr>
          <p:cNvPr id="35" name="rect 26"/>
          <p:cNvSpPr/>
          <p:nvPr/>
        </p:nvSpPr>
        <p:spPr>
          <a:xfrm>
            <a:off x="838200" y="6311900"/>
            <a:ext cx="1117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zh-CN" sz="1400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2026年7月</a:t>
            </a:r>
          </a:p>
        </p:txBody>
      </p:sp>
      <p:sp>
        <p:nvSpPr>
          <p:cNvPr id="36" name="rect 27"/>
          <p:cNvSpPr/>
          <p:nvPr/>
        </p:nvSpPr>
        <p:spPr>
          <a:xfrm>
            <a:off x="5721350" y="6311900"/>
            <a:ext cx="11303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zh-CN" sz="1400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2026年8月</a:t>
            </a:r>
          </a:p>
        </p:txBody>
      </p:sp>
      <p:sp>
        <p:nvSpPr>
          <p:cNvPr id="37" name="rect 28"/>
          <p:cNvSpPr/>
          <p:nvPr/>
        </p:nvSpPr>
        <p:spPr>
          <a:xfrm>
            <a:off x="10433050" y="6311900"/>
            <a:ext cx="11303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zh-CN" sz="1400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2026年9月</a:t>
            </a:r>
          </a:p>
        </p:txBody>
      </p:sp>
      <p:sp>
        <p:nvSpPr>
          <p:cNvPr id="38" name="roundRect 1"/>
          <p:cNvSpPr/>
          <p:nvPr/>
        </p:nvSpPr>
        <p:spPr>
          <a:xfrm>
            <a:off x="812800" y="1778000"/>
            <a:ext cx="7061200" cy="1016000"/>
          </a:xfrm>
          <a:prstGeom prst="roundRect">
            <a:avLst>
              <a:gd fmla="val 10000" name="adj"/>
            </a:avLst>
          </a:prstGeom>
          <a:solidFill>
            <a:srgbClr val="E8F0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 29"/>
          <p:cNvSpPr/>
          <p:nvPr/>
        </p:nvSpPr>
        <p:spPr>
          <a:xfrm>
            <a:off x="1041400" y="1968500"/>
            <a:ext cx="205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利润增速持续快于营收：</a:t>
            </a:r>
          </a:p>
        </p:txBody>
      </p:sp>
      <p:sp>
        <p:nvSpPr>
          <p:cNvPr id="40" name="rect 30"/>
          <p:cNvSpPr/>
          <p:nvPr/>
        </p:nvSpPr>
        <p:spPr>
          <a:xfrm>
            <a:off x="1041400" y="2273300"/>
            <a:ext cx="22733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8 月 +39.9% vs +23.0%，</a:t>
            </a:r>
          </a:p>
        </p:txBody>
      </p:sp>
      <p:sp>
        <p:nvSpPr>
          <p:cNvPr id="41" name="rect 31"/>
          <p:cNvSpPr/>
          <p:nvPr/>
        </p:nvSpPr>
        <p:spPr>
          <a:xfrm>
            <a:off x="1041400" y="2527300"/>
            <a:ext cx="2197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9 月 +18.6% vs +13.2%。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利润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812800" y="660400"/>
            <a:ext cx="76200" cy="355600"/>
          </a:xfrm>
          <a:prstGeom prst="rect">
            <a:avLst/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5" name="rect 4"/>
          <p:cNvSpPr/>
          <p:nvPr/>
        </p:nvSpPr>
        <p:spPr>
          <a:xfrm>
            <a:off x="1066800" y="558800"/>
            <a:ext cx="5816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3000" b="1">
                <a:solidFill>
                  <a:srgbClr val="0F172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利润率逐月抬升，成本率同步下降</a:t>
            </a:r>
          </a:p>
        </p:txBody>
      </p:sp>
      <p:sp>
        <p:nvSpPr>
          <p:cNvPr id="6" name="rect 5"/>
          <p:cNvSpPr/>
          <p:nvPr/>
        </p:nvSpPr>
        <p:spPr>
          <a:xfrm>
            <a:off x="10680700" y="774700"/>
            <a:ext cx="6985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4000"/>
              </a:lnSpc>
              <a:buNone/>
            </a:pPr>
            <a:r>
              <a:rPr lang="en-US" sz="1400">
                <a:solidFill>
                  <a:srgbClr val="5B6B7F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P 4 / 6</a:t>
            </a:r>
          </a:p>
        </p:txBody>
      </p:sp>
      <p:sp>
        <p:nvSpPr>
          <p:cNvPr id="7" name="rect 6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8" name="roundRect 1"/>
          <p:cNvSpPr/>
          <p:nvPr/>
        </p:nvSpPr>
        <p:spPr>
          <a:xfrm>
            <a:off x="3048000" y="1473200"/>
            <a:ext cx="203200" cy="203200"/>
          </a:xfrm>
          <a:prstGeom prst="roundRect">
            <a:avLst>
              <a:gd fmla="val 25000" name="adj"/>
            </a:avLst>
          </a:prstGeom>
          <a:solidFill>
            <a:srgbClr val="2E6FB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7"/>
          <p:cNvSpPr/>
          <p:nvPr/>
        </p:nvSpPr>
        <p:spPr>
          <a:xfrm>
            <a:off x="3352800" y="1447800"/>
            <a:ext cx="635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 b="1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利润率</a:t>
            </a:r>
          </a:p>
        </p:txBody>
      </p:sp>
      <p:sp>
        <p:nvSpPr>
          <p:cNvPr id="10" name="roundRect 2"/>
          <p:cNvSpPr/>
          <p:nvPr/>
        </p:nvSpPr>
        <p:spPr>
          <a:xfrm>
            <a:off x="4292600" y="1473200"/>
            <a:ext cx="203200" cy="203200"/>
          </a:xfrm>
          <a:prstGeom prst="roundRect">
            <a:avLst>
              <a:gd fmla="val 25000" name="adj"/>
            </a:avLst>
          </a:prstGeom>
          <a:solidFill>
            <a:srgbClr val="C3D3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 8"/>
          <p:cNvSpPr/>
          <p:nvPr/>
        </p:nvSpPr>
        <p:spPr>
          <a:xfrm>
            <a:off x="4597400" y="1447800"/>
            <a:ext cx="635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 b="1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成本率</a:t>
            </a:r>
          </a:p>
        </p:txBody>
      </p:sp>
      <p:sp>
        <p:nvSpPr>
          <p:cNvPr id="12" name="rect 9"/>
          <p:cNvSpPr/>
          <p:nvPr/>
        </p:nvSpPr>
        <p:spPr>
          <a:xfrm>
            <a:off x="10160000" y="1460500"/>
            <a:ext cx="1219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7000"/>
              </a:lnSpc>
              <a:buNone/>
            </a:pPr>
            <a:r>
              <a:rPr lang="zh-CN" sz="1300">
                <a:solidFill>
                  <a:srgbClr val="8A99A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横轴 0 — 50%</a:t>
            </a:r>
          </a:p>
        </p:txBody>
      </p:sp>
      <p:sp>
        <p:nvSpPr>
          <p:cNvPr id="13" name="roundRect 3"/>
          <p:cNvSpPr/>
          <p:nvPr/>
        </p:nvSpPr>
        <p:spPr>
          <a:xfrm>
            <a:off x="812800" y="2133600"/>
            <a:ext cx="1422400" cy="2819400"/>
          </a:xfrm>
          <a:prstGeom prst="roundRect">
            <a:avLst>
              <a:gd fmla="val 10714" name="adj"/>
            </a:avLst>
          </a:prstGeom>
          <a:solidFill>
            <a:srgbClr val="E8F0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 10"/>
          <p:cNvSpPr/>
          <p:nvPr/>
        </p:nvSpPr>
        <p:spPr>
          <a:xfrm>
            <a:off x="1092200" y="2413000"/>
            <a:ext cx="673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 b="1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成本率</a:t>
            </a:r>
          </a:p>
        </p:txBody>
      </p:sp>
      <p:sp>
        <p:nvSpPr>
          <p:cNvPr id="15" name="rect 11"/>
          <p:cNvSpPr/>
          <p:nvPr/>
        </p:nvSpPr>
        <p:spPr>
          <a:xfrm>
            <a:off x="1092200" y="2692400"/>
            <a:ext cx="482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 b="1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累计</a:t>
            </a:r>
          </a:p>
        </p:txBody>
      </p:sp>
      <p:sp>
        <p:nvSpPr>
          <p:cNvPr id="16" name="rect 12"/>
          <p:cNvSpPr/>
          <p:nvPr/>
        </p:nvSpPr>
        <p:spPr>
          <a:xfrm>
            <a:off x="1092200" y="3200400"/>
            <a:ext cx="1104900" cy="584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3800" b="1">
                <a:solidFill>
                  <a:srgbClr val="D9A324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-5.6</a:t>
            </a:r>
          </a:p>
        </p:txBody>
      </p:sp>
      <p:sp>
        <p:nvSpPr>
          <p:cNvPr id="17" name="rect 13"/>
          <p:cNvSpPr/>
          <p:nvPr/>
        </p:nvSpPr>
        <p:spPr>
          <a:xfrm>
            <a:off x="1092200" y="3810000"/>
            <a:ext cx="3683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700" b="1">
                <a:solidFill>
                  <a:srgbClr val="123A63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pp</a:t>
            </a:r>
          </a:p>
        </p:txBody>
      </p:sp>
      <p:sp>
        <p:nvSpPr>
          <p:cNvPr id="18" name="rect 14"/>
          <p:cNvSpPr/>
          <p:nvPr/>
        </p:nvSpPr>
        <p:spPr>
          <a:xfrm>
            <a:off x="1092200" y="4267200"/>
            <a:ext cx="762000" cy="38100"/>
          </a:xfrm>
          <a:prstGeom prst="rect">
            <a:avLst/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9" name="rect 15"/>
          <p:cNvSpPr/>
          <p:nvPr/>
        </p:nvSpPr>
        <p:spPr>
          <a:xfrm>
            <a:off x="1092200" y="4419600"/>
            <a:ext cx="812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5B6B7F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70.8% →</a:t>
            </a:r>
          </a:p>
        </p:txBody>
      </p:sp>
      <p:sp>
        <p:nvSpPr>
          <p:cNvPr id="20" name="rect 16"/>
          <p:cNvSpPr/>
          <p:nvPr/>
        </p:nvSpPr>
        <p:spPr>
          <a:xfrm>
            <a:off x="1092200" y="4673600"/>
            <a:ext cx="609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5B6B7F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65.2%</a:t>
            </a:r>
          </a:p>
        </p:txBody>
      </p:sp>
      <p:sp>
        <p:nvSpPr>
          <p:cNvPr id="21" name="rect 17"/>
          <p:cNvSpPr/>
          <p:nvPr/>
        </p:nvSpPr>
        <p:spPr>
          <a:xfrm>
            <a:off x="3048000" y="1892300"/>
            <a:ext cx="12573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 b="1">
                <a:solidFill>
                  <a:srgbClr val="0F172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2026年7月</a:t>
            </a:r>
          </a:p>
        </p:txBody>
      </p:sp>
      <p:sp>
        <p:nvSpPr>
          <p:cNvPr id="22" name="roundRect 4"/>
          <p:cNvSpPr/>
          <p:nvPr/>
        </p:nvSpPr>
        <p:spPr>
          <a:xfrm>
            <a:off x="3048000" y="2286000"/>
            <a:ext cx="6350000" cy="279400"/>
          </a:xfrm>
          <a:prstGeom prst="roundRect">
            <a:avLst>
              <a:gd fmla="val 18182" name="adj"/>
            </a:avLst>
          </a:prstGeom>
          <a:solidFill>
            <a:srgbClr val="EDF1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Rect 5"/>
          <p:cNvSpPr/>
          <p:nvPr/>
        </p:nvSpPr>
        <p:spPr>
          <a:xfrm>
            <a:off x="3048000" y="2286000"/>
            <a:ext cx="3708400" cy="279400"/>
          </a:xfrm>
          <a:prstGeom prst="roundRect">
            <a:avLst>
              <a:gd fmla="val 18182" name="adj"/>
            </a:avLst>
          </a:prstGeom>
          <a:solidFill>
            <a:srgbClr val="2E6FB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 18"/>
          <p:cNvSpPr/>
          <p:nvPr/>
        </p:nvSpPr>
        <p:spPr>
          <a:xfrm>
            <a:off x="6908800" y="2298700"/>
            <a:ext cx="1244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 b="1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利润率 29.2%</a:t>
            </a:r>
          </a:p>
        </p:txBody>
      </p:sp>
      <p:sp>
        <p:nvSpPr>
          <p:cNvPr id="25" name="roundRect 6"/>
          <p:cNvSpPr/>
          <p:nvPr/>
        </p:nvSpPr>
        <p:spPr>
          <a:xfrm>
            <a:off x="3048000" y="2641600"/>
            <a:ext cx="5283200" cy="177800"/>
          </a:xfrm>
          <a:prstGeom prst="roundRect">
            <a:avLst>
              <a:gd fmla="val 28571" name="adj"/>
            </a:avLst>
          </a:prstGeom>
          <a:solidFill>
            <a:srgbClr val="C3D3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 19"/>
          <p:cNvSpPr/>
          <p:nvPr/>
        </p:nvSpPr>
        <p:spPr>
          <a:xfrm>
            <a:off x="8483600" y="2616200"/>
            <a:ext cx="1143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成本率 70.8%</a:t>
            </a:r>
          </a:p>
        </p:txBody>
      </p:sp>
      <p:sp>
        <p:nvSpPr>
          <p:cNvPr id="27" name="rect 20"/>
          <p:cNvSpPr/>
          <p:nvPr/>
        </p:nvSpPr>
        <p:spPr>
          <a:xfrm>
            <a:off x="3048000" y="2857500"/>
            <a:ext cx="12700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 b="1">
                <a:solidFill>
                  <a:srgbClr val="0F172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2026年8月</a:t>
            </a:r>
          </a:p>
        </p:txBody>
      </p:sp>
      <p:sp>
        <p:nvSpPr>
          <p:cNvPr id="28" name="roundRect 7"/>
          <p:cNvSpPr/>
          <p:nvPr/>
        </p:nvSpPr>
        <p:spPr>
          <a:xfrm>
            <a:off x="3048000" y="3251200"/>
            <a:ext cx="6350000" cy="279400"/>
          </a:xfrm>
          <a:prstGeom prst="roundRect">
            <a:avLst>
              <a:gd fmla="val 18182" name="adj"/>
            </a:avLst>
          </a:prstGeom>
          <a:solidFill>
            <a:srgbClr val="EDF1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Rect 8"/>
          <p:cNvSpPr/>
          <p:nvPr/>
        </p:nvSpPr>
        <p:spPr>
          <a:xfrm>
            <a:off x="3048000" y="3251200"/>
            <a:ext cx="4216400" cy="279400"/>
          </a:xfrm>
          <a:prstGeom prst="roundRect">
            <a:avLst>
              <a:gd fmla="val 18182" name="adj"/>
            </a:avLst>
          </a:prstGeom>
          <a:solidFill>
            <a:srgbClr val="2E6FB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 21"/>
          <p:cNvSpPr/>
          <p:nvPr/>
        </p:nvSpPr>
        <p:spPr>
          <a:xfrm>
            <a:off x="7416800" y="3263900"/>
            <a:ext cx="1244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 b="1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利润率 33.2%</a:t>
            </a:r>
          </a:p>
        </p:txBody>
      </p:sp>
      <p:sp>
        <p:nvSpPr>
          <p:cNvPr id="31" name="roundRect 9"/>
          <p:cNvSpPr/>
          <p:nvPr/>
        </p:nvSpPr>
        <p:spPr>
          <a:xfrm>
            <a:off x="3048000" y="3606800"/>
            <a:ext cx="4800600" cy="177800"/>
          </a:xfrm>
          <a:prstGeom prst="roundRect">
            <a:avLst>
              <a:gd fmla="val 28571" name="adj"/>
            </a:avLst>
          </a:prstGeom>
          <a:solidFill>
            <a:srgbClr val="C3D3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 22"/>
          <p:cNvSpPr/>
          <p:nvPr/>
        </p:nvSpPr>
        <p:spPr>
          <a:xfrm>
            <a:off x="8001000" y="3581400"/>
            <a:ext cx="1155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成本率 66.8%</a:t>
            </a:r>
          </a:p>
        </p:txBody>
      </p:sp>
      <p:sp>
        <p:nvSpPr>
          <p:cNvPr id="33" name="rect 23"/>
          <p:cNvSpPr/>
          <p:nvPr/>
        </p:nvSpPr>
        <p:spPr>
          <a:xfrm>
            <a:off x="3048000" y="3822700"/>
            <a:ext cx="12700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 b="1">
                <a:solidFill>
                  <a:srgbClr val="0F172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2026年9月</a:t>
            </a:r>
          </a:p>
        </p:txBody>
      </p:sp>
      <p:sp>
        <p:nvSpPr>
          <p:cNvPr id="34" name="roundRect 10"/>
          <p:cNvSpPr/>
          <p:nvPr/>
        </p:nvSpPr>
        <p:spPr>
          <a:xfrm>
            <a:off x="3048000" y="4216400"/>
            <a:ext cx="6350000" cy="279400"/>
          </a:xfrm>
          <a:prstGeom prst="roundRect">
            <a:avLst>
              <a:gd fmla="val 18182" name="adj"/>
            </a:avLst>
          </a:prstGeom>
          <a:solidFill>
            <a:srgbClr val="EDF1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Rect 11"/>
          <p:cNvSpPr/>
          <p:nvPr/>
        </p:nvSpPr>
        <p:spPr>
          <a:xfrm>
            <a:off x="3048000" y="4216400"/>
            <a:ext cx="4419600" cy="279400"/>
          </a:xfrm>
          <a:prstGeom prst="roundRect">
            <a:avLst>
              <a:gd fmla="val 18182" name="adj"/>
            </a:avLst>
          </a:prstGeom>
          <a:solidFill>
            <a:srgbClr val="2E6FB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 24"/>
          <p:cNvSpPr/>
          <p:nvPr/>
        </p:nvSpPr>
        <p:spPr>
          <a:xfrm>
            <a:off x="7620000" y="4229100"/>
            <a:ext cx="1244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 b="1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利润率 34.8%</a:t>
            </a:r>
          </a:p>
        </p:txBody>
      </p:sp>
      <p:sp>
        <p:nvSpPr>
          <p:cNvPr id="37" name="roundRect 12"/>
          <p:cNvSpPr/>
          <p:nvPr/>
        </p:nvSpPr>
        <p:spPr>
          <a:xfrm>
            <a:off x="3048000" y="4572000"/>
            <a:ext cx="4584700" cy="177800"/>
          </a:xfrm>
          <a:prstGeom prst="roundRect">
            <a:avLst>
              <a:gd fmla="val 28571" name="adj"/>
            </a:avLst>
          </a:prstGeom>
          <a:solidFill>
            <a:srgbClr val="C3D3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 25"/>
          <p:cNvSpPr/>
          <p:nvPr/>
        </p:nvSpPr>
        <p:spPr>
          <a:xfrm>
            <a:off x="7785100" y="4546600"/>
            <a:ext cx="1155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成本率 65.2%</a:t>
            </a:r>
          </a:p>
        </p:txBody>
      </p:sp>
      <p:sp>
        <p:nvSpPr>
          <p:cNvPr id="39" name="rect 26"/>
          <p:cNvSpPr/>
          <p:nvPr/>
        </p:nvSpPr>
        <p:spPr>
          <a:xfrm>
            <a:off x="3048000" y="5334000"/>
            <a:ext cx="57404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700" b="1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成本率累计下降 5.6 个百分点，是利润率抬升的直接来源。</a:t>
            </a:r>
          </a:p>
        </p:txBody>
      </p:sp>
      <p:sp>
        <p:nvSpPr>
          <p:cNvPr id="40" name="rect 27"/>
          <p:cNvSpPr/>
          <p:nvPr/>
        </p:nvSpPr>
        <p:spPr>
          <a:xfrm>
            <a:off x="3048000" y="5791200"/>
            <a:ext cx="8331200" cy="38100"/>
          </a:xfrm>
          <a:prstGeom prst="rect">
            <a:avLst/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1" name="rect 28"/>
          <p:cNvSpPr/>
          <p:nvPr/>
        </p:nvSpPr>
        <p:spPr>
          <a:xfrm>
            <a:off x="812800" y="6324600"/>
            <a:ext cx="39624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8A99A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数据来源：q3-sales.xlsx ｜ 成本率 = 成本 ÷ 销售额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增量拆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812800" y="660400"/>
            <a:ext cx="76200" cy="355600"/>
          </a:xfrm>
          <a:prstGeom prst="rect">
            <a:avLst/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5" name="rect 4"/>
          <p:cNvSpPr/>
          <p:nvPr/>
        </p:nvSpPr>
        <p:spPr>
          <a:xfrm>
            <a:off x="1066800" y="558800"/>
            <a:ext cx="83312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3000" b="1">
                <a:solidFill>
                  <a:srgbClr val="0F172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增量拆解：855,050 收入增量，55.9% 落到利润</a:t>
            </a:r>
          </a:p>
        </p:txBody>
      </p:sp>
      <p:sp>
        <p:nvSpPr>
          <p:cNvPr id="6" name="rect 5"/>
          <p:cNvSpPr/>
          <p:nvPr/>
        </p:nvSpPr>
        <p:spPr>
          <a:xfrm>
            <a:off x="10680700" y="774700"/>
            <a:ext cx="6985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4000"/>
              </a:lnSpc>
              <a:buNone/>
            </a:pPr>
            <a:r>
              <a:rPr lang="en-US" sz="1400">
                <a:solidFill>
                  <a:srgbClr val="5B6B7F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P 5 / 6</a:t>
            </a:r>
          </a:p>
        </p:txBody>
      </p:sp>
      <p:sp>
        <p:nvSpPr>
          <p:cNvPr id="7" name="rect 6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8" name="roundRect 1"/>
          <p:cNvSpPr/>
          <p:nvPr/>
        </p:nvSpPr>
        <p:spPr>
          <a:xfrm>
            <a:off x="1168400" y="1447800"/>
            <a:ext cx="203200" cy="203200"/>
          </a:xfrm>
          <a:prstGeom prst="roundRect">
            <a:avLst>
              <a:gd fmla="val 25000" name="adj"/>
            </a:avLst>
          </a:prstGeom>
          <a:solidFill>
            <a:srgbClr val="123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7"/>
          <p:cNvSpPr/>
          <p:nvPr/>
        </p:nvSpPr>
        <p:spPr>
          <a:xfrm>
            <a:off x="1473200" y="1422400"/>
            <a:ext cx="812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 b="1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月度利润</a:t>
            </a:r>
          </a:p>
        </p:txBody>
      </p:sp>
      <p:sp>
        <p:nvSpPr>
          <p:cNvPr id="10" name="roundRect 2"/>
          <p:cNvSpPr/>
          <p:nvPr/>
        </p:nvSpPr>
        <p:spPr>
          <a:xfrm>
            <a:off x="2692400" y="1447800"/>
            <a:ext cx="203200" cy="203200"/>
          </a:xfrm>
          <a:prstGeom prst="roundRect">
            <a:avLst>
              <a:gd fmla="val 25000" name="adj"/>
            </a:avLst>
          </a:prstGeom>
          <a:solidFill>
            <a:srgbClr val="2E6FB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 8"/>
          <p:cNvSpPr/>
          <p:nvPr/>
        </p:nvSpPr>
        <p:spPr>
          <a:xfrm>
            <a:off x="2997200" y="1422400"/>
            <a:ext cx="812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 b="1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收入增量</a:t>
            </a:r>
          </a:p>
        </p:txBody>
      </p:sp>
      <p:sp>
        <p:nvSpPr>
          <p:cNvPr id="12" name="roundRect 3"/>
          <p:cNvSpPr/>
          <p:nvPr/>
        </p:nvSpPr>
        <p:spPr>
          <a:xfrm>
            <a:off x="4216400" y="1447800"/>
            <a:ext cx="203200" cy="203200"/>
          </a:xfrm>
          <a:prstGeom prst="roundRect">
            <a:avLst>
              <a:gd fmla="val 25000" name="adj"/>
            </a:avLst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9"/>
          <p:cNvSpPr/>
          <p:nvPr/>
        </p:nvSpPr>
        <p:spPr>
          <a:xfrm>
            <a:off x="4521200" y="1422400"/>
            <a:ext cx="812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 b="1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成本增量</a:t>
            </a:r>
          </a:p>
        </p:txBody>
      </p:sp>
      <p:sp>
        <p:nvSpPr>
          <p:cNvPr id="14" name="rect 10"/>
          <p:cNvSpPr/>
          <p:nvPr/>
        </p:nvSpPr>
        <p:spPr>
          <a:xfrm>
            <a:off x="10452100" y="1435100"/>
            <a:ext cx="927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7000"/>
              </a:lnSpc>
              <a:buNone/>
            </a:pPr>
            <a:r>
              <a:rPr lang="zh-CN" sz="1300">
                <a:solidFill>
                  <a:srgbClr val="8A99A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单位：美元</a:t>
            </a:r>
          </a:p>
        </p:txBody>
      </p:sp>
      <p:sp>
        <p:nvSpPr>
          <p:cNvPr id="15" name="roundRect 4"/>
          <p:cNvSpPr/>
          <p:nvPr/>
        </p:nvSpPr>
        <p:spPr>
          <a:xfrm>
            <a:off x="6858000" y="1371600"/>
            <a:ext cx="4521200" cy="508000"/>
          </a:xfrm>
          <a:prstGeom prst="roundRect">
            <a:avLst>
              <a:gd fmla="val 20000" name="adj"/>
            </a:avLst>
          </a:prstGeom>
          <a:solidFill>
            <a:srgbClr val="E8F0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 11"/>
          <p:cNvSpPr/>
          <p:nvPr/>
        </p:nvSpPr>
        <p:spPr>
          <a:xfrm>
            <a:off x="7112000" y="1498600"/>
            <a:ext cx="31115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855,050 收入增量中 55.9% 落到利润</a:t>
            </a:r>
          </a:p>
        </p:txBody>
      </p:sp>
      <p:sp>
        <p:nvSpPr>
          <p:cNvPr id="17" name="rect 12"/>
          <p:cNvSpPr/>
          <p:nvPr/>
        </p:nvSpPr>
        <p:spPr>
          <a:xfrm>
            <a:off x="2590800" y="3987800"/>
            <a:ext cx="203200" cy="12700"/>
          </a:xfrm>
          <a:custGeom>
            <a:avLst/>
            <a:gdLst/>
            <a:ahLst/>
            <a:cxnLst/>
            <a:rect l="0" t="0" r="0" b="0"/>
            <a:pathLst>
              <a:path w="16" h="1">
                <a:moveTo>
                  <a:pt x="0" y="0"/>
                </a:moveTo>
                <a:lnTo>
                  <a:pt x="4" y="0"/>
                </a:lnTo>
                <a:moveTo>
                  <a:pt x="7" y="0"/>
                </a:moveTo>
                <a:lnTo>
                  <a:pt x="11" y="0"/>
                </a:lnTo>
                <a:moveTo>
                  <a:pt x="14" y="0"/>
                </a:moveTo>
                <a:lnTo>
                  <a:pt x="16" y="0"/>
                </a:lnTo>
              </a:path>
            </a:pathLst>
          </a:custGeom>
          <a:noFill/>
          <a:ln w="19050">
            <a:solidFill>
              <a:srgbClr val="B9C6D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8" name="rect 13"/>
          <p:cNvSpPr/>
          <p:nvPr/>
        </p:nvSpPr>
        <p:spPr>
          <a:xfrm>
            <a:off x="3759200" y="4597400"/>
            <a:ext cx="203200" cy="12700"/>
          </a:xfrm>
          <a:custGeom>
            <a:avLst/>
            <a:gdLst/>
            <a:ahLst/>
            <a:cxnLst/>
            <a:rect l="0" t="0" r="0" b="0"/>
            <a:pathLst>
              <a:path w="16" h="1">
                <a:moveTo>
                  <a:pt x="0" y="0"/>
                </a:moveTo>
                <a:lnTo>
                  <a:pt x="4" y="0"/>
                </a:lnTo>
                <a:moveTo>
                  <a:pt x="7" y="0"/>
                </a:moveTo>
                <a:lnTo>
                  <a:pt x="11" y="0"/>
                </a:lnTo>
                <a:moveTo>
                  <a:pt x="14" y="0"/>
                </a:moveTo>
                <a:lnTo>
                  <a:pt x="16" y="0"/>
                </a:lnTo>
              </a:path>
            </a:pathLst>
          </a:custGeom>
          <a:noFill/>
          <a:ln w="19050">
            <a:solidFill>
              <a:srgbClr val="B9C6D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9" name="rect 14"/>
          <p:cNvSpPr/>
          <p:nvPr/>
        </p:nvSpPr>
        <p:spPr>
          <a:xfrm>
            <a:off x="3759200" y="2336800"/>
            <a:ext cx="203200" cy="12700"/>
          </a:xfrm>
          <a:custGeom>
            <a:avLst/>
            <a:gdLst/>
            <a:ahLst/>
            <a:cxnLst/>
            <a:rect l="0" t="0" r="0" b="0"/>
            <a:pathLst>
              <a:path w="16" h="1">
                <a:moveTo>
                  <a:pt x="0" y="0"/>
                </a:moveTo>
                <a:lnTo>
                  <a:pt x="4" y="0"/>
                </a:lnTo>
                <a:moveTo>
                  <a:pt x="7" y="0"/>
                </a:moveTo>
                <a:lnTo>
                  <a:pt x="11" y="0"/>
                </a:lnTo>
                <a:moveTo>
                  <a:pt x="14" y="0"/>
                </a:moveTo>
                <a:lnTo>
                  <a:pt x="16" y="0"/>
                </a:lnTo>
              </a:path>
            </a:pathLst>
          </a:custGeom>
          <a:noFill/>
          <a:ln w="19050">
            <a:solidFill>
              <a:srgbClr val="B9C6D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0" name="rect 15"/>
          <p:cNvSpPr/>
          <p:nvPr/>
        </p:nvSpPr>
        <p:spPr>
          <a:xfrm>
            <a:off x="4927600" y="4546600"/>
            <a:ext cx="203200" cy="12700"/>
          </a:xfrm>
          <a:custGeom>
            <a:avLst/>
            <a:gdLst/>
            <a:ahLst/>
            <a:cxnLst/>
            <a:rect l="0" t="0" r="0" b="0"/>
            <a:pathLst>
              <a:path w="16" h="1">
                <a:moveTo>
                  <a:pt x="0" y="0"/>
                </a:moveTo>
                <a:lnTo>
                  <a:pt x="4" y="0"/>
                </a:lnTo>
                <a:moveTo>
                  <a:pt x="7" y="0"/>
                </a:moveTo>
                <a:lnTo>
                  <a:pt x="11" y="0"/>
                </a:lnTo>
                <a:moveTo>
                  <a:pt x="14" y="0"/>
                </a:moveTo>
                <a:lnTo>
                  <a:pt x="16" y="0"/>
                </a:lnTo>
              </a:path>
            </a:pathLst>
          </a:custGeom>
          <a:noFill/>
          <a:ln w="19050">
            <a:solidFill>
              <a:srgbClr val="B9C6D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1" name="rect 16"/>
          <p:cNvSpPr/>
          <p:nvPr/>
        </p:nvSpPr>
        <p:spPr>
          <a:xfrm>
            <a:off x="6096000" y="4419600"/>
            <a:ext cx="203200" cy="12700"/>
          </a:xfrm>
          <a:custGeom>
            <a:avLst/>
            <a:gdLst/>
            <a:ahLst/>
            <a:cxnLst/>
            <a:rect l="0" t="0" r="0" b="0"/>
            <a:pathLst>
              <a:path w="16" h="1">
                <a:moveTo>
                  <a:pt x="0" y="0"/>
                </a:moveTo>
                <a:lnTo>
                  <a:pt x="4" y="0"/>
                </a:lnTo>
                <a:moveTo>
                  <a:pt x="7" y="0"/>
                </a:moveTo>
                <a:lnTo>
                  <a:pt x="11" y="0"/>
                </a:lnTo>
                <a:moveTo>
                  <a:pt x="14" y="0"/>
                </a:moveTo>
                <a:lnTo>
                  <a:pt x="16" y="0"/>
                </a:lnTo>
              </a:path>
            </a:pathLst>
          </a:custGeom>
          <a:noFill/>
          <a:ln w="19050">
            <a:solidFill>
              <a:srgbClr val="B9C6D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2" name="rect 17"/>
          <p:cNvSpPr/>
          <p:nvPr/>
        </p:nvSpPr>
        <p:spPr>
          <a:xfrm>
            <a:off x="7264400" y="4013200"/>
            <a:ext cx="203200" cy="12700"/>
          </a:xfrm>
          <a:custGeom>
            <a:avLst/>
            <a:gdLst/>
            <a:ahLst/>
            <a:cxnLst/>
            <a:rect l="0" t="0" r="0" b="0"/>
            <a:pathLst>
              <a:path w="16" h="1">
                <a:moveTo>
                  <a:pt x="0" y="0"/>
                </a:moveTo>
                <a:lnTo>
                  <a:pt x="4" y="0"/>
                </a:lnTo>
                <a:moveTo>
                  <a:pt x="7" y="0"/>
                </a:moveTo>
                <a:lnTo>
                  <a:pt x="11" y="0"/>
                </a:lnTo>
                <a:moveTo>
                  <a:pt x="14" y="0"/>
                </a:moveTo>
                <a:lnTo>
                  <a:pt x="16" y="0"/>
                </a:lnTo>
              </a:path>
            </a:pathLst>
          </a:custGeom>
          <a:noFill/>
          <a:ln w="19050">
            <a:solidFill>
              <a:srgbClr val="B9C6D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3" name="rect 18"/>
          <p:cNvSpPr/>
          <p:nvPr/>
        </p:nvSpPr>
        <p:spPr>
          <a:xfrm>
            <a:off x="1168400" y="3009900"/>
            <a:ext cx="1219200" cy="232410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4" name="rect 19"/>
          <p:cNvSpPr/>
          <p:nvPr/>
        </p:nvSpPr>
        <p:spPr>
          <a:xfrm>
            <a:off x="2692400" y="2209800"/>
            <a:ext cx="1219200" cy="31242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5" name="rect 20"/>
          <p:cNvSpPr/>
          <p:nvPr/>
        </p:nvSpPr>
        <p:spPr>
          <a:xfrm>
            <a:off x="3860800" y="3860800"/>
            <a:ext cx="1219200" cy="736600"/>
          </a:xfrm>
          <a:prstGeom prst="rect">
            <a:avLst/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6" name="rect 21"/>
          <p:cNvSpPr/>
          <p:nvPr/>
        </p:nvSpPr>
        <p:spPr>
          <a:xfrm>
            <a:off x="5029200" y="2082800"/>
            <a:ext cx="1219200" cy="325120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7" name="rect 22"/>
          <p:cNvSpPr/>
          <p:nvPr/>
        </p:nvSpPr>
        <p:spPr>
          <a:xfrm>
            <a:off x="6197600" y="3022600"/>
            <a:ext cx="1219200" cy="12954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8" name="rect 23"/>
          <p:cNvSpPr/>
          <p:nvPr/>
        </p:nvSpPr>
        <p:spPr>
          <a:xfrm>
            <a:off x="7366000" y="3505200"/>
            <a:ext cx="1219200" cy="685800"/>
          </a:xfrm>
          <a:prstGeom prst="rect">
            <a:avLst/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9" name="rect 24"/>
          <p:cNvSpPr/>
          <p:nvPr/>
        </p:nvSpPr>
        <p:spPr>
          <a:xfrm>
            <a:off x="8534400" y="2641600"/>
            <a:ext cx="1219200" cy="269240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0" name="rect 25"/>
          <p:cNvSpPr/>
          <p:nvPr/>
        </p:nvSpPr>
        <p:spPr>
          <a:xfrm>
            <a:off x="1422400" y="2692400"/>
            <a:ext cx="711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  <a:buNone/>
            </a:pPr>
            <a:r>
              <a:rPr lang="en-US" sz="1300" b="1">
                <a:solidFill>
                  <a:srgbClr val="123A63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281,550</a:t>
            </a:r>
          </a:p>
        </p:txBody>
      </p:sp>
      <p:sp>
        <p:nvSpPr>
          <p:cNvPr id="31" name="rect 26"/>
          <p:cNvSpPr/>
          <p:nvPr/>
        </p:nvSpPr>
        <p:spPr>
          <a:xfrm>
            <a:off x="2743200" y="1905000"/>
            <a:ext cx="1117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  <a:buNone/>
            </a:pPr>
            <a:r>
              <a:rPr lang="zh-CN" sz="1300" b="1">
                <a:solidFill>
                  <a:srgbClr val="2E6FB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收入 377,900</a:t>
            </a:r>
          </a:p>
        </p:txBody>
      </p:sp>
      <p:sp>
        <p:nvSpPr>
          <p:cNvPr id="32" name="rect 27"/>
          <p:cNvSpPr/>
          <p:nvPr/>
        </p:nvSpPr>
        <p:spPr>
          <a:xfrm>
            <a:off x="3956050" y="4622800"/>
            <a:ext cx="1028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  <a:buNone/>
            </a:pPr>
            <a:r>
              <a:rPr lang="zh-CN" sz="1300" b="1">
                <a:solidFill>
                  <a:srgbClr val="B8860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成本 95,000</a:t>
            </a:r>
          </a:p>
        </p:txBody>
      </p:sp>
      <p:sp>
        <p:nvSpPr>
          <p:cNvPr id="33" name="rect 28"/>
          <p:cNvSpPr/>
          <p:nvPr/>
        </p:nvSpPr>
        <p:spPr>
          <a:xfrm>
            <a:off x="5270500" y="1778000"/>
            <a:ext cx="736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  <a:buNone/>
            </a:pPr>
            <a:r>
              <a:rPr lang="en-US" sz="1300" b="1">
                <a:solidFill>
                  <a:srgbClr val="123A63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393,950</a:t>
            </a:r>
          </a:p>
        </p:txBody>
      </p:sp>
      <p:sp>
        <p:nvSpPr>
          <p:cNvPr id="34" name="rect 29"/>
          <p:cNvSpPr/>
          <p:nvPr/>
        </p:nvSpPr>
        <p:spPr>
          <a:xfrm>
            <a:off x="6261100" y="2717800"/>
            <a:ext cx="1092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  <a:buNone/>
            </a:pPr>
            <a:r>
              <a:rPr lang="zh-CN" sz="1300" b="1">
                <a:solidFill>
                  <a:srgbClr val="2E6FB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收入 156,350</a:t>
            </a:r>
          </a:p>
        </p:txBody>
      </p:sp>
      <p:sp>
        <p:nvSpPr>
          <p:cNvPr id="35" name="rect 30"/>
          <p:cNvSpPr/>
          <p:nvPr/>
        </p:nvSpPr>
        <p:spPr>
          <a:xfrm>
            <a:off x="7461250" y="3200400"/>
            <a:ext cx="1028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  <a:buNone/>
            </a:pPr>
            <a:r>
              <a:rPr lang="zh-CN" sz="1300" b="1">
                <a:solidFill>
                  <a:srgbClr val="B8860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成本 83,200</a:t>
            </a:r>
          </a:p>
        </p:txBody>
      </p:sp>
      <p:sp>
        <p:nvSpPr>
          <p:cNvPr id="36" name="rect 31"/>
          <p:cNvSpPr/>
          <p:nvPr/>
        </p:nvSpPr>
        <p:spPr>
          <a:xfrm>
            <a:off x="8794750" y="2336800"/>
            <a:ext cx="6985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  <a:buNone/>
            </a:pPr>
            <a:r>
              <a:rPr lang="en-US" sz="1300" b="1">
                <a:solidFill>
                  <a:srgbClr val="123A63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467,100</a:t>
            </a:r>
          </a:p>
        </p:txBody>
      </p:sp>
      <p:sp>
        <p:nvSpPr>
          <p:cNvPr id="37" name="rect 32"/>
          <p:cNvSpPr/>
          <p:nvPr/>
        </p:nvSpPr>
        <p:spPr>
          <a:xfrm>
            <a:off x="914400" y="5334000"/>
            <a:ext cx="10363200" cy="25400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8" name="rect 33"/>
          <p:cNvSpPr/>
          <p:nvPr/>
        </p:nvSpPr>
        <p:spPr>
          <a:xfrm>
            <a:off x="1390650" y="5575300"/>
            <a:ext cx="774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zh-CN" sz="1400" b="1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7月利润</a:t>
            </a:r>
          </a:p>
        </p:txBody>
      </p:sp>
      <p:sp>
        <p:nvSpPr>
          <p:cNvPr id="39" name="rect 34"/>
          <p:cNvSpPr/>
          <p:nvPr/>
        </p:nvSpPr>
        <p:spPr>
          <a:xfrm>
            <a:off x="2730500" y="5575300"/>
            <a:ext cx="1143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zh-CN" sz="1400" b="1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8月收入增量</a:t>
            </a:r>
          </a:p>
        </p:txBody>
      </p:sp>
      <p:sp>
        <p:nvSpPr>
          <p:cNvPr id="40" name="rect 35"/>
          <p:cNvSpPr/>
          <p:nvPr/>
        </p:nvSpPr>
        <p:spPr>
          <a:xfrm>
            <a:off x="3898900" y="5575300"/>
            <a:ext cx="1143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zh-CN" sz="1400" b="1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8月成本增量</a:t>
            </a:r>
          </a:p>
        </p:txBody>
      </p:sp>
      <p:sp>
        <p:nvSpPr>
          <p:cNvPr id="41" name="rect 36"/>
          <p:cNvSpPr/>
          <p:nvPr/>
        </p:nvSpPr>
        <p:spPr>
          <a:xfrm>
            <a:off x="5245100" y="5575300"/>
            <a:ext cx="78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zh-CN" sz="1400" b="1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8月利润</a:t>
            </a:r>
          </a:p>
        </p:txBody>
      </p:sp>
      <p:sp>
        <p:nvSpPr>
          <p:cNvPr id="42" name="rect 37"/>
          <p:cNvSpPr/>
          <p:nvPr/>
        </p:nvSpPr>
        <p:spPr>
          <a:xfrm>
            <a:off x="6235700" y="5575300"/>
            <a:ext cx="1143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zh-CN" sz="1400" b="1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9月收入增量</a:t>
            </a:r>
          </a:p>
        </p:txBody>
      </p:sp>
      <p:sp>
        <p:nvSpPr>
          <p:cNvPr id="43" name="rect 38"/>
          <p:cNvSpPr/>
          <p:nvPr/>
        </p:nvSpPr>
        <p:spPr>
          <a:xfrm>
            <a:off x="7404100" y="5575300"/>
            <a:ext cx="1143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zh-CN" sz="1400" b="1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9月成本增量</a:t>
            </a:r>
          </a:p>
        </p:txBody>
      </p:sp>
      <p:sp>
        <p:nvSpPr>
          <p:cNvPr id="44" name="rect 39"/>
          <p:cNvSpPr/>
          <p:nvPr/>
        </p:nvSpPr>
        <p:spPr>
          <a:xfrm>
            <a:off x="8750300" y="5575300"/>
            <a:ext cx="78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zh-CN" sz="1400" b="1">
                <a:solidFill>
                  <a:srgbClr val="5B6B7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9月利润</a:t>
            </a:r>
          </a:p>
        </p:txBody>
      </p:sp>
      <p:sp>
        <p:nvSpPr>
          <p:cNvPr id="45" name="roundRect 5"/>
          <p:cNvSpPr/>
          <p:nvPr/>
        </p:nvSpPr>
        <p:spPr>
          <a:xfrm>
            <a:off x="812800" y="6019800"/>
            <a:ext cx="10566400" cy="508000"/>
          </a:xfrm>
          <a:prstGeom prst="roundRect">
            <a:avLst>
              <a:gd fmla="val 22500" name="adj"/>
            </a:avLst>
          </a:prstGeom>
          <a:solidFill>
            <a:srgbClr val="123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roundRect 6"/>
          <p:cNvSpPr/>
          <p:nvPr/>
        </p:nvSpPr>
        <p:spPr>
          <a:xfrm>
            <a:off x="812800" y="6019800"/>
            <a:ext cx="76200" cy="508000"/>
          </a:xfrm>
          <a:prstGeom prst="roundRect">
            <a:avLst>
              <a:gd fmla="val 50000" name="adj"/>
            </a:avLst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 40"/>
          <p:cNvSpPr/>
          <p:nvPr/>
        </p:nvSpPr>
        <p:spPr>
          <a:xfrm>
            <a:off x="1244600" y="6146800"/>
            <a:ext cx="7569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收入增量合计 855,050，其中 477,650 转化为利润（55.9%）；成本增量合计 178,200。</a:t>
            </a:r>
          </a:p>
        </p:txBody>
      </p:sp>
      <p:sp>
        <p:nvSpPr>
          <p:cNvPr id="48" name="rect 41"/>
          <p:cNvSpPr/>
          <p:nvPr/>
        </p:nvSpPr>
        <p:spPr>
          <a:xfrm>
            <a:off x="812800" y="6553200"/>
            <a:ext cx="38354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8A99A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数据来源：q3-sales.xlsx ｜ 利润 = 销售额 − 成本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下一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812800" y="660400"/>
            <a:ext cx="76200" cy="355600"/>
          </a:xfrm>
          <a:prstGeom prst="rect">
            <a:avLst/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5" name="rect 4"/>
          <p:cNvSpPr/>
          <p:nvPr/>
        </p:nvSpPr>
        <p:spPr>
          <a:xfrm>
            <a:off x="1066800" y="558800"/>
            <a:ext cx="5435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3000" b="1">
                <a:solidFill>
                  <a:srgbClr val="0F172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下一步：延续增长并守住利润率</a:t>
            </a:r>
          </a:p>
        </p:txBody>
      </p:sp>
      <p:sp>
        <p:nvSpPr>
          <p:cNvPr id="6" name="rect 5"/>
          <p:cNvSpPr/>
          <p:nvPr/>
        </p:nvSpPr>
        <p:spPr>
          <a:xfrm>
            <a:off x="10680700" y="774700"/>
            <a:ext cx="6985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4000"/>
              </a:lnSpc>
              <a:buNone/>
            </a:pPr>
            <a:r>
              <a:rPr lang="en-US" sz="1400">
                <a:solidFill>
                  <a:srgbClr val="5B6B7F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P 6 / 6</a:t>
            </a:r>
          </a:p>
        </p:txBody>
      </p:sp>
      <p:sp>
        <p:nvSpPr>
          <p:cNvPr id="7" name="rect 6"/>
          <p:cNvSpPr/>
          <p:nvPr/>
        </p:nvSpPr>
        <p:spPr>
          <a:xfrm>
            <a:off x="812800" y="1244600"/>
            <a:ext cx="10566400" cy="12700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8" name="roundRect 1"/>
          <p:cNvSpPr/>
          <p:nvPr/>
        </p:nvSpPr>
        <p:spPr>
          <a:xfrm>
            <a:off x="812800" y="1600200"/>
            <a:ext cx="3314700" cy="2971800"/>
          </a:xfrm>
          <a:prstGeom prst="roundRect">
            <a:avLst>
              <a:gd fmla="val 5128" name="adj"/>
            </a:avLst>
          </a:prstGeom>
          <a:solidFill>
            <a:srgbClr val="E8F0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Rect 2"/>
          <p:cNvSpPr/>
          <p:nvPr/>
        </p:nvSpPr>
        <p:spPr>
          <a:xfrm>
            <a:off x="812800" y="1600200"/>
            <a:ext cx="3314700" cy="76200"/>
          </a:xfrm>
          <a:prstGeom prst="roundRect">
            <a:avLst>
              <a:gd fmla="val 50000" name="adj"/>
            </a:avLst>
          </a:prstGeom>
          <a:solidFill>
            <a:srgbClr val="2E6FB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 7"/>
          <p:cNvSpPr/>
          <p:nvPr/>
        </p:nvSpPr>
        <p:spPr>
          <a:xfrm>
            <a:off x="1168400" y="1905000"/>
            <a:ext cx="5080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3200" b="1">
                <a:solidFill>
                  <a:srgbClr val="2E6FB7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01</a:t>
            </a:r>
          </a:p>
        </p:txBody>
      </p:sp>
      <p:sp>
        <p:nvSpPr>
          <p:cNvPr id="11" name="rect 8"/>
          <p:cNvSpPr/>
          <p:nvPr/>
        </p:nvSpPr>
        <p:spPr>
          <a:xfrm>
            <a:off x="1168400" y="2565400"/>
            <a:ext cx="20320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900" b="1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扩大高利润率渠道</a:t>
            </a:r>
          </a:p>
        </p:txBody>
      </p:sp>
      <p:sp>
        <p:nvSpPr>
          <p:cNvPr id="12" name="rect 9"/>
          <p:cNvSpPr/>
          <p:nvPr/>
        </p:nvSpPr>
        <p:spPr>
          <a:xfrm>
            <a:off x="1168400" y="3022600"/>
            <a:ext cx="660400" cy="381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3" name="rect 10"/>
          <p:cNvSpPr/>
          <p:nvPr/>
        </p:nvSpPr>
        <p:spPr>
          <a:xfrm>
            <a:off x="1168400" y="3263900"/>
            <a:ext cx="205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41546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把 9 月 34.8% 的利润率</a:t>
            </a:r>
          </a:p>
        </p:txBody>
      </p:sp>
      <p:sp>
        <p:nvSpPr>
          <p:cNvPr id="14" name="rect 11"/>
          <p:cNvSpPr/>
          <p:nvPr/>
        </p:nvSpPr>
        <p:spPr>
          <a:xfrm>
            <a:off x="1168400" y="3568700"/>
            <a:ext cx="2133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41546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结构复制到 7-8 月的存量</a:t>
            </a:r>
          </a:p>
        </p:txBody>
      </p:sp>
      <p:sp>
        <p:nvSpPr>
          <p:cNvPr id="15" name="rect 12"/>
          <p:cNvSpPr/>
          <p:nvPr/>
        </p:nvSpPr>
        <p:spPr>
          <a:xfrm>
            <a:off x="1168400" y="3873500"/>
            <a:ext cx="205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41546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业务，优先投放到利润率</a:t>
            </a:r>
          </a:p>
        </p:txBody>
      </p:sp>
      <p:sp>
        <p:nvSpPr>
          <p:cNvPr id="16" name="rect 13"/>
          <p:cNvSpPr/>
          <p:nvPr/>
        </p:nvSpPr>
        <p:spPr>
          <a:xfrm>
            <a:off x="1168400" y="4178300"/>
            <a:ext cx="1676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41546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高于 35% 的渠道。</a:t>
            </a:r>
          </a:p>
        </p:txBody>
      </p:sp>
      <p:sp>
        <p:nvSpPr>
          <p:cNvPr id="17" name="roundRect 3"/>
          <p:cNvSpPr/>
          <p:nvPr/>
        </p:nvSpPr>
        <p:spPr>
          <a:xfrm>
            <a:off x="4419600" y="1600200"/>
            <a:ext cx="3314700" cy="2971800"/>
          </a:xfrm>
          <a:prstGeom prst="roundRect">
            <a:avLst>
              <a:gd fmla="val 5128" name="adj"/>
            </a:avLst>
          </a:prstGeom>
          <a:solidFill>
            <a:srgbClr val="E8F0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Rect 4"/>
          <p:cNvSpPr/>
          <p:nvPr/>
        </p:nvSpPr>
        <p:spPr>
          <a:xfrm>
            <a:off x="4419600" y="1600200"/>
            <a:ext cx="3314700" cy="76200"/>
          </a:xfrm>
          <a:prstGeom prst="roundRect">
            <a:avLst>
              <a:gd fmla="val 50000" name="adj"/>
            </a:avLst>
          </a:prstGeom>
          <a:solidFill>
            <a:srgbClr val="2E6FB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 14"/>
          <p:cNvSpPr/>
          <p:nvPr/>
        </p:nvSpPr>
        <p:spPr>
          <a:xfrm>
            <a:off x="4775200" y="1905000"/>
            <a:ext cx="5842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3200" b="1">
                <a:solidFill>
                  <a:srgbClr val="2E6FB7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02</a:t>
            </a:r>
          </a:p>
        </p:txBody>
      </p:sp>
      <p:sp>
        <p:nvSpPr>
          <p:cNvPr id="20" name="rect 15"/>
          <p:cNvSpPr/>
          <p:nvPr/>
        </p:nvSpPr>
        <p:spPr>
          <a:xfrm>
            <a:off x="4775200" y="2565400"/>
            <a:ext cx="15494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900" b="1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控制成本增速</a:t>
            </a:r>
          </a:p>
        </p:txBody>
      </p:sp>
      <p:sp>
        <p:nvSpPr>
          <p:cNvPr id="21" name="rect 16"/>
          <p:cNvSpPr/>
          <p:nvPr/>
        </p:nvSpPr>
        <p:spPr>
          <a:xfrm>
            <a:off x="4775200" y="3022600"/>
            <a:ext cx="660400" cy="381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2" name="rect 17"/>
          <p:cNvSpPr/>
          <p:nvPr/>
        </p:nvSpPr>
        <p:spPr>
          <a:xfrm>
            <a:off x="4775200" y="3263900"/>
            <a:ext cx="2209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41546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以成本率 65% 为红线，把</a:t>
            </a:r>
          </a:p>
        </p:txBody>
      </p:sp>
      <p:sp>
        <p:nvSpPr>
          <p:cNvPr id="23" name="rect 18"/>
          <p:cNvSpPr/>
          <p:nvPr/>
        </p:nvSpPr>
        <p:spPr>
          <a:xfrm>
            <a:off x="4775200" y="3568700"/>
            <a:ext cx="205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41546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单月成本增速压在营收增</a:t>
            </a:r>
          </a:p>
        </p:txBody>
      </p:sp>
      <p:sp>
        <p:nvSpPr>
          <p:cNvPr id="24" name="rect 19"/>
          <p:cNvSpPr/>
          <p:nvPr/>
        </p:nvSpPr>
        <p:spPr>
          <a:xfrm>
            <a:off x="4775200" y="3873500"/>
            <a:ext cx="812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41546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速之下。</a:t>
            </a:r>
          </a:p>
        </p:txBody>
      </p:sp>
      <p:sp>
        <p:nvSpPr>
          <p:cNvPr id="25" name="roundRect 5"/>
          <p:cNvSpPr/>
          <p:nvPr/>
        </p:nvSpPr>
        <p:spPr>
          <a:xfrm>
            <a:off x="8026400" y="1600200"/>
            <a:ext cx="3314700" cy="2971800"/>
          </a:xfrm>
          <a:prstGeom prst="roundRect">
            <a:avLst>
              <a:gd fmla="val 5128" name="adj"/>
            </a:avLst>
          </a:prstGeom>
          <a:solidFill>
            <a:srgbClr val="FBF1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Rect 6"/>
          <p:cNvSpPr/>
          <p:nvPr/>
        </p:nvSpPr>
        <p:spPr>
          <a:xfrm>
            <a:off x="8026400" y="1600200"/>
            <a:ext cx="3314700" cy="76200"/>
          </a:xfrm>
          <a:prstGeom prst="roundRect">
            <a:avLst>
              <a:gd fmla="val 50000" name="adj"/>
            </a:avLst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 20"/>
          <p:cNvSpPr/>
          <p:nvPr/>
        </p:nvSpPr>
        <p:spPr>
          <a:xfrm>
            <a:off x="8382000" y="1905000"/>
            <a:ext cx="5842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3200" b="1">
                <a:solidFill>
                  <a:srgbClr val="D9A324"/>
                </a:solidFill>
                <a:latin typeface="'PingFang SC'"/>
                <a:ea typeface="'Hiragino Sans GB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Hiragino Sans GB'" sym=""/>
                  </a:ext>
                </a:extLst>
              </a:rPr>
              <a:t>03</a:t>
            </a:r>
          </a:p>
        </p:txBody>
      </p:sp>
      <p:sp>
        <p:nvSpPr>
          <p:cNvPr id="28" name="rect 21"/>
          <p:cNvSpPr/>
          <p:nvPr/>
        </p:nvSpPr>
        <p:spPr>
          <a:xfrm>
            <a:off x="8382000" y="2565400"/>
            <a:ext cx="15621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900" b="1">
                <a:solidFill>
                  <a:srgbClr val="123A63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锁定 Q4 目标</a:t>
            </a:r>
          </a:p>
        </p:txBody>
      </p:sp>
      <p:sp>
        <p:nvSpPr>
          <p:cNvPr id="29" name="rect 22"/>
          <p:cNvSpPr/>
          <p:nvPr/>
        </p:nvSpPr>
        <p:spPr>
          <a:xfrm>
            <a:off x="8382000" y="3022600"/>
            <a:ext cx="660400" cy="38100"/>
          </a:xfrm>
          <a:prstGeom prst="rect">
            <a:avLst/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0" name="rect 23"/>
          <p:cNvSpPr/>
          <p:nvPr/>
        </p:nvSpPr>
        <p:spPr>
          <a:xfrm>
            <a:off x="8382000" y="3263900"/>
            <a:ext cx="205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41546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按 13% 月环比推算，Q4</a:t>
            </a:r>
          </a:p>
        </p:txBody>
      </p:sp>
      <p:sp>
        <p:nvSpPr>
          <p:cNvPr id="31" name="rect 24"/>
          <p:cNvSpPr/>
          <p:nvPr/>
        </p:nvSpPr>
        <p:spPr>
          <a:xfrm>
            <a:off x="8382000" y="3568700"/>
            <a:ext cx="2070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41546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销售额目标 4,560,000，</a:t>
            </a:r>
          </a:p>
        </p:txBody>
      </p:sp>
      <p:sp>
        <p:nvSpPr>
          <p:cNvPr id="32" name="rect 25"/>
          <p:cNvSpPr/>
          <p:nvPr/>
        </p:nvSpPr>
        <p:spPr>
          <a:xfrm>
            <a:off x="8382000" y="3873500"/>
            <a:ext cx="1854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41546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利润目标 1,560,000。</a:t>
            </a:r>
          </a:p>
        </p:txBody>
      </p:sp>
      <p:sp>
        <p:nvSpPr>
          <p:cNvPr id="33" name="roundRect 7"/>
          <p:cNvSpPr/>
          <p:nvPr/>
        </p:nvSpPr>
        <p:spPr>
          <a:xfrm>
            <a:off x="812800" y="4902200"/>
            <a:ext cx="10566400" cy="609600"/>
          </a:xfrm>
          <a:prstGeom prst="roundRect">
            <a:avLst>
              <a:gd fmla="val 20833" name="adj"/>
            </a:avLst>
          </a:prstGeom>
          <a:solidFill>
            <a:srgbClr val="123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Rect 8"/>
          <p:cNvSpPr/>
          <p:nvPr/>
        </p:nvSpPr>
        <p:spPr>
          <a:xfrm>
            <a:off x="812800" y="4902200"/>
            <a:ext cx="76200" cy="609600"/>
          </a:xfrm>
          <a:prstGeom prst="roundRect">
            <a:avLst>
              <a:gd fmla="val 50000" name="adj"/>
            </a:avLst>
          </a:prstGeom>
          <a:solidFill>
            <a:srgbClr val="D9A3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 26"/>
          <p:cNvSpPr/>
          <p:nvPr/>
        </p:nvSpPr>
        <p:spPr>
          <a:xfrm>
            <a:off x="1270000" y="5054600"/>
            <a:ext cx="63754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Q4 目标：销售额 $4,560,000 ｜ 利润 $1,560,000 ｜ 利润率 ≥ 34%</a:t>
            </a:r>
          </a:p>
        </p:txBody>
      </p:sp>
      <p:sp>
        <p:nvSpPr>
          <p:cNvPr id="36" name="rect 27"/>
          <p:cNvSpPr/>
          <p:nvPr/>
        </p:nvSpPr>
        <p:spPr>
          <a:xfrm>
            <a:off x="812800" y="6146800"/>
            <a:ext cx="62865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8A99A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Hiragino Sans GB','Microsoft YaHei',Arial,sans-serif" latin="'PingFang SC'" ea="'PingFang SC'" sym=""/>
                  </a:ext>
                </a:extLst>
              </a:rPr>
              <a:t>Q4 目标为按 9 月环比 13% 外推的参考值，非承诺指标 ｜ 数据来源：q3-sales.xlsx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12700">
          <a:solidFill>
            <a:srgbClr val="4472C4">
              <a:alpha val="100000"/>
            </a:srgbClr>
          </a:solidFill>
        </a:ln>
        <a:ln w="19050">
          <a:solidFill>
            <a:srgbClr val="44546A">
              <a:alpha val="100000"/>
            </a:srgbClr>
          </a:solidFill>
        </a:ln>
        <a:ln w="28575">
          <a:solidFill>
            <a:srgbClr val="000000">
              <a:alpha val="100000"/>
            </a:srgbClr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6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2026 Q3 销售复盘</vt:lpstr>
    </vt:vector>
  </TitlesOfParts>
  <Company>Univer.ai</Company>
  <LinksUpToDate>false</LinksUpToDate>
  <SharedDoc>false</SharedDoc>
  <HyperlinksChanged>false</HyperlinksChanged>
  <AppVersion>16.0300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Q3 销售复盘</dc:title>
  <dc:creator>Univer.ai</dc:creator>
  <cp:lastModifiedBy>Univer.ai</cp:lastModifiedBy>
  <dcterms:created xsi:type="dcterms:W3CDTF">2026-01-01T00:00:00Z</dcterms:created>
  <dcterms:modified xsi:type="dcterms:W3CDTF">2026-01-01T00:00:00Z</dcterms:modified>
</cp:coreProperties>
</file>