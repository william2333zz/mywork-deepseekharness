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E1621"/>
              </a:gs>
              <a:gs pos="62000">
                <a:srgbClr val="101A26"/>
              </a:gs>
              <a:gs pos="100000">
                <a:srgbClr val="1A263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975600" y="0"/>
            <a:ext cx="4216400" cy="6858000"/>
          </a:xfrm>
          <a:prstGeom prst="rect">
            <a:avLst/>
          </a:prstGeom>
          <a:solidFill>
            <a:srgbClr val="E8B54D">
              <a:alpha val="5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E8B54D"/>
              </a:gs>
              <a:gs pos="100000">
                <a:srgbClr val="C9942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812800" y="1143000"/>
            <a:ext cx="3467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MARKET-IMPLIED VERDICT · 2026-09-27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638300"/>
            <a:ext cx="5359400" cy="698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46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现在适合买黄金吗？</a:t>
            </a:r>
          </a:p>
        </p:txBody>
      </p:sp>
      <p:sp>
        <p:nvSpPr>
          <p:cNvPr id="7" name="rect 6"/>
          <p:cNvSpPr/>
          <p:nvPr/>
        </p:nvSpPr>
        <p:spPr>
          <a:xfrm>
            <a:off x="812800" y="2692400"/>
            <a:ext cx="812800" cy="762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ect 7"/>
          <p:cNvSpPr/>
          <p:nvPr/>
        </p:nvSpPr>
        <p:spPr>
          <a:xfrm>
            <a:off x="812800" y="2921000"/>
            <a:ext cx="4419600" cy="520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4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不建议现在一次性做多</a:t>
            </a:r>
          </a:p>
        </p:txBody>
      </p:sp>
      <p:sp>
        <p:nvSpPr>
          <p:cNvPr id="9" name="rect 8"/>
          <p:cNvSpPr/>
          <p:nvPr/>
        </p:nvSpPr>
        <p:spPr>
          <a:xfrm>
            <a:off x="812800" y="3594100"/>
            <a:ext cx="3898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可以小仓位分批建底仓 —— 但不是现在追</a:t>
            </a:r>
          </a:p>
        </p:txBody>
      </p:sp>
      <p:sp>
        <p:nvSpPr>
          <p:cNvPr id="10" name="roundRect 1"/>
          <p:cNvSpPr/>
          <p:nvPr/>
        </p:nvSpPr>
        <p:spPr>
          <a:xfrm>
            <a:off x="8382000" y="2362200"/>
            <a:ext cx="2997200" cy="1905000"/>
          </a:xfrm>
          <a:prstGeom prst="roundRect">
            <a:avLst>
              <a:gd fmla="val 5333" name="adj"/>
            </a:avLst>
          </a:prstGeom>
          <a:solidFill>
            <a:srgbClr val="16212E"/>
          </a:solidFill>
          <a:ln w="12700">
            <a:solidFill>
              <a:srgbClr val="2A384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9"/>
          <p:cNvSpPr/>
          <p:nvPr/>
        </p:nvSpPr>
        <p:spPr>
          <a:xfrm>
            <a:off x="8661400" y="2578100"/>
            <a:ext cx="12319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en-US" sz="11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OPTION PRICING</a:t>
            </a:r>
          </a:p>
        </p:txBody>
      </p:sp>
      <p:sp>
        <p:nvSpPr>
          <p:cNvPr id="12" name="rect 10"/>
          <p:cNvSpPr/>
          <p:nvPr/>
        </p:nvSpPr>
        <p:spPr>
          <a:xfrm>
            <a:off x="8661400" y="2705100"/>
            <a:ext cx="1549400" cy="850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56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0.67</a:t>
            </a:r>
          </a:p>
        </p:txBody>
      </p:sp>
      <p:sp>
        <p:nvSpPr>
          <p:cNvPr id="13" name="rect 11"/>
          <p:cNvSpPr/>
          <p:nvPr/>
        </p:nvSpPr>
        <p:spPr>
          <a:xfrm>
            <a:off x="8661400" y="3606800"/>
            <a:ext cx="1612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隐含 / 已实现波动率</a:t>
            </a:r>
          </a:p>
        </p:txBody>
      </p:sp>
      <p:sp>
        <p:nvSpPr>
          <p:cNvPr id="14" name="rect 12"/>
          <p:cNvSpPr/>
          <p:nvPr/>
        </p:nvSpPr>
        <p:spPr>
          <a:xfrm>
            <a:off x="8661400" y="3886200"/>
            <a:ext cx="1511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期权定价折价 33%</a:t>
            </a:r>
          </a:p>
        </p:txBody>
      </p:sp>
      <p:sp>
        <p:nvSpPr>
          <p:cNvPr id="15" name="rect 13"/>
          <p:cNvSpPr/>
          <p:nvPr/>
        </p:nvSpPr>
        <p:spPr>
          <a:xfrm>
            <a:off x="812800" y="4267200"/>
            <a:ext cx="10566400" cy="50800"/>
          </a:xfrm>
          <a:prstGeom prst="rect">
            <a:avLst/>
          </a:prstGeom>
          <a:solidFill>
            <a:srgbClr val="E8B54D">
              <a:alpha val="85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ect 14"/>
          <p:cNvSpPr/>
          <p:nvPr/>
        </p:nvSpPr>
        <p:spPr>
          <a:xfrm>
            <a:off x="812800" y="4470400"/>
            <a:ext cx="1308100" cy="584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800" b="1">
                <a:solidFill>
                  <a:srgbClr val="F2F5F8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4,321</a:t>
            </a:r>
          </a:p>
        </p:txBody>
      </p:sp>
      <p:sp>
        <p:nvSpPr>
          <p:cNvPr id="17" name="rect 15"/>
          <p:cNvSpPr/>
          <p:nvPr/>
        </p:nvSpPr>
        <p:spPr>
          <a:xfrm>
            <a:off x="812800" y="5118100"/>
            <a:ext cx="22987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USD/oz · 现货基准（9/25 收）</a:t>
            </a:r>
          </a:p>
        </p:txBody>
      </p:sp>
      <p:sp>
        <p:nvSpPr>
          <p:cNvPr id="18" name="rect 16"/>
          <p:cNvSpPr/>
          <p:nvPr/>
        </p:nvSpPr>
        <p:spPr>
          <a:xfrm>
            <a:off x="4673600" y="4470400"/>
            <a:ext cx="1460500" cy="584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800" b="1">
                <a:solidFill>
                  <a:srgbClr val="E0574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+51bp</a:t>
            </a:r>
          </a:p>
        </p:txBody>
      </p:sp>
      <p:sp>
        <p:nvSpPr>
          <p:cNvPr id="19" name="rect 17"/>
          <p:cNvSpPr/>
          <p:nvPr/>
        </p:nvSpPr>
        <p:spPr>
          <a:xfrm>
            <a:off x="4673600" y="5118100"/>
            <a:ext cx="1905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10Y 实际利率 · 1个月变化</a:t>
            </a:r>
          </a:p>
        </p:txBody>
      </p:sp>
      <p:sp>
        <p:nvSpPr>
          <p:cNvPr id="20" name="rect 18"/>
          <p:cNvSpPr/>
          <p:nvPr/>
        </p:nvSpPr>
        <p:spPr>
          <a:xfrm>
            <a:off x="8534400" y="4470400"/>
            <a:ext cx="1168400" cy="584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3800" b="1">
                <a:solidFill>
                  <a:srgbClr val="E0574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93%</a:t>
            </a:r>
          </a:p>
        </p:txBody>
      </p:sp>
      <p:sp>
        <p:nvSpPr>
          <p:cNvPr id="21" name="rect 19"/>
          <p:cNvSpPr/>
          <p:nvPr/>
        </p:nvSpPr>
        <p:spPr>
          <a:xfrm>
            <a:off x="8534400" y="5118100"/>
            <a:ext cx="1955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6个月内触及 4,278 的概率</a:t>
            </a:r>
          </a:p>
        </p:txBody>
      </p:sp>
      <p:sp>
        <p:nvSpPr>
          <p:cNvPr id="22" name="rect 20"/>
          <p:cNvSpPr/>
          <p:nvPr/>
        </p:nvSpPr>
        <p:spPr>
          <a:xfrm>
            <a:off x="812800" y="6184900"/>
            <a:ext cx="64389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zh-CN" sz="11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数据源：US Treasury TIPS · CFTC COT · GLD 期权链 · Polymarket · CNN FearGreed（37 恐惧）</a:t>
            </a:r>
          </a:p>
        </p:txBody>
      </p:sp>
      <p:sp>
        <p:nvSpPr>
          <p:cNvPr id="23" name="rect 21"/>
          <p:cNvSpPr/>
          <p:nvPr/>
        </p:nvSpPr>
        <p:spPr>
          <a:xfrm>
            <a:off x="812800" y="6464300"/>
            <a:ext cx="34544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zh-CN" sz="11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所有结论均来自真实成交数据的定价，不含分析师观点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812800" y="558800"/>
            <a:ext cx="558800" cy="635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35000"/>
            <a:ext cx="5435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五层信号：四个偏空，一个托底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1168400"/>
            <a:ext cx="4254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INDEPENDENT MARKET SIGNALS · 五个维度独立取值</a:t>
            </a:r>
          </a:p>
        </p:txBody>
      </p:sp>
      <p:sp>
        <p:nvSpPr>
          <p:cNvPr id="6" name="roundRect 1"/>
          <p:cNvSpPr/>
          <p:nvPr/>
        </p:nvSpPr>
        <p:spPr>
          <a:xfrm>
            <a:off x="812800" y="1600200"/>
            <a:ext cx="10566400" cy="787400"/>
          </a:xfrm>
          <a:prstGeom prst="roundRect">
            <a:avLst>
              <a:gd fmla="val 9677" name="adj"/>
            </a:avLst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1752600"/>
            <a:ext cx="4318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26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01</a:t>
            </a:r>
          </a:p>
        </p:txBody>
      </p:sp>
      <p:sp>
        <p:nvSpPr>
          <p:cNvPr id="8" name="rect 6"/>
          <p:cNvSpPr/>
          <p:nvPr/>
        </p:nvSpPr>
        <p:spPr>
          <a:xfrm>
            <a:off x="1778000" y="17272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实际利率</a:t>
            </a:r>
          </a:p>
        </p:txBody>
      </p:sp>
      <p:sp>
        <p:nvSpPr>
          <p:cNvPr id="9" name="rect 7"/>
          <p:cNvSpPr/>
          <p:nvPr/>
        </p:nvSpPr>
        <p:spPr>
          <a:xfrm>
            <a:off x="2997200" y="1727200"/>
            <a:ext cx="2844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10Y TIPS 2.83%，1个月 +51bp</a:t>
            </a:r>
          </a:p>
        </p:txBody>
      </p:sp>
      <p:sp>
        <p:nvSpPr>
          <p:cNvPr id="10" name="rect 8"/>
          <p:cNvSpPr/>
          <p:nvPr/>
        </p:nvSpPr>
        <p:spPr>
          <a:xfrm>
            <a:off x="1778000" y="2044700"/>
            <a:ext cx="3086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持有黄金的机会成本处于 2008 年前水平</a:t>
            </a:r>
          </a:p>
        </p:txBody>
      </p:sp>
      <p:sp>
        <p:nvSpPr>
          <p:cNvPr id="11" name="rect 9"/>
          <p:cNvSpPr/>
          <p:nvPr/>
        </p:nvSpPr>
        <p:spPr>
          <a:xfrm>
            <a:off x="10680700" y="1841500"/>
            <a:ext cx="698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  <a:buNone/>
            </a:pPr>
            <a:r>
              <a:rPr lang="zh-CN" sz="20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↓ 空</a:t>
            </a:r>
          </a:p>
        </p:txBody>
      </p:sp>
      <p:sp>
        <p:nvSpPr>
          <p:cNvPr id="12" name="roundRect 2"/>
          <p:cNvSpPr/>
          <p:nvPr/>
        </p:nvSpPr>
        <p:spPr>
          <a:xfrm>
            <a:off x="812800" y="2489200"/>
            <a:ext cx="10566400" cy="787400"/>
          </a:xfrm>
          <a:prstGeom prst="roundRect">
            <a:avLst>
              <a:gd fmla="val 9677" name="adj"/>
            </a:avLst>
          </a:prstGeom>
          <a:solidFill>
            <a:srgbClr val="131D2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10"/>
          <p:cNvSpPr/>
          <p:nvPr/>
        </p:nvSpPr>
        <p:spPr>
          <a:xfrm>
            <a:off x="1066800" y="2641600"/>
            <a:ext cx="4953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26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02</a:t>
            </a:r>
          </a:p>
        </p:txBody>
      </p:sp>
      <p:sp>
        <p:nvSpPr>
          <p:cNvPr id="14" name="rect 11"/>
          <p:cNvSpPr/>
          <p:nvPr/>
        </p:nvSpPr>
        <p:spPr>
          <a:xfrm>
            <a:off x="1778000" y="26162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价格抗性</a:t>
            </a:r>
          </a:p>
        </p:txBody>
      </p:sp>
      <p:sp>
        <p:nvSpPr>
          <p:cNvPr id="15" name="rect 12"/>
          <p:cNvSpPr/>
          <p:nvPr/>
        </p:nvSpPr>
        <p:spPr>
          <a:xfrm>
            <a:off x="2997200" y="2616200"/>
            <a:ext cx="2616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利率 +51bp，金价仅 −1.95%</a:t>
            </a:r>
          </a:p>
        </p:txBody>
      </p:sp>
      <p:sp>
        <p:nvSpPr>
          <p:cNvPr id="16" name="rect 13"/>
          <p:cNvSpPr/>
          <p:nvPr/>
        </p:nvSpPr>
        <p:spPr>
          <a:xfrm>
            <a:off x="1778000" y="2933700"/>
            <a:ext cx="224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央行实需在承接，但抗性有限</a:t>
            </a:r>
          </a:p>
        </p:txBody>
      </p:sp>
      <p:sp>
        <p:nvSpPr>
          <p:cNvPr id="17" name="rect 14"/>
          <p:cNvSpPr/>
          <p:nvPr/>
        </p:nvSpPr>
        <p:spPr>
          <a:xfrm>
            <a:off x="10680700" y="2730500"/>
            <a:ext cx="698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  <a:buNone/>
            </a:pPr>
            <a:r>
              <a:rPr lang="zh-CN" sz="2000" b="1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→ 中</a:t>
            </a:r>
          </a:p>
        </p:txBody>
      </p:sp>
      <p:sp>
        <p:nvSpPr>
          <p:cNvPr id="18" name="roundRect 3"/>
          <p:cNvSpPr/>
          <p:nvPr/>
        </p:nvSpPr>
        <p:spPr>
          <a:xfrm>
            <a:off x="812800" y="3378200"/>
            <a:ext cx="10566400" cy="787400"/>
          </a:xfrm>
          <a:prstGeom prst="roundRect">
            <a:avLst>
              <a:gd fmla="val 9677" name="adj"/>
            </a:avLst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5"/>
          <p:cNvSpPr/>
          <p:nvPr/>
        </p:nvSpPr>
        <p:spPr>
          <a:xfrm>
            <a:off x="1066800" y="3530600"/>
            <a:ext cx="4953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26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03</a:t>
            </a:r>
          </a:p>
        </p:txBody>
      </p:sp>
      <p:sp>
        <p:nvSpPr>
          <p:cNvPr id="20" name="rect 16"/>
          <p:cNvSpPr/>
          <p:nvPr/>
        </p:nvSpPr>
        <p:spPr>
          <a:xfrm>
            <a:off x="1778000" y="3505200"/>
            <a:ext cx="1092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矿商 / 金属</a:t>
            </a:r>
          </a:p>
        </p:txBody>
      </p:sp>
      <p:sp>
        <p:nvSpPr>
          <p:cNvPr id="21" name="rect 17"/>
          <p:cNvSpPr/>
          <p:nvPr/>
        </p:nvSpPr>
        <p:spPr>
          <a:xfrm>
            <a:off x="2997200" y="3505200"/>
            <a:ext cx="3695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GDX −6.80% vs GLD −3.79%，已破 95</a:t>
            </a:r>
          </a:p>
        </p:txBody>
      </p:sp>
      <p:sp>
        <p:nvSpPr>
          <p:cNvPr id="22" name="rect 18"/>
          <p:cNvSpPr/>
          <p:nvPr/>
        </p:nvSpPr>
        <p:spPr>
          <a:xfrm>
            <a:off x="1778000" y="3822700"/>
            <a:ext cx="208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矿商是领先指标，它在报警</a:t>
            </a:r>
          </a:p>
        </p:txBody>
      </p:sp>
      <p:sp>
        <p:nvSpPr>
          <p:cNvPr id="23" name="rect 19"/>
          <p:cNvSpPr/>
          <p:nvPr/>
        </p:nvSpPr>
        <p:spPr>
          <a:xfrm>
            <a:off x="10680700" y="3619500"/>
            <a:ext cx="698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  <a:buNone/>
            </a:pPr>
            <a:r>
              <a:rPr lang="zh-CN" sz="20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↓ 空</a:t>
            </a:r>
          </a:p>
        </p:txBody>
      </p:sp>
      <p:sp>
        <p:nvSpPr>
          <p:cNvPr id="24" name="roundRect 4"/>
          <p:cNvSpPr/>
          <p:nvPr/>
        </p:nvSpPr>
        <p:spPr>
          <a:xfrm>
            <a:off x="812800" y="4267200"/>
            <a:ext cx="10566400" cy="787400"/>
          </a:xfrm>
          <a:prstGeom prst="roundRect">
            <a:avLst>
              <a:gd fmla="val 9677" name="adj"/>
            </a:avLst>
          </a:prstGeom>
          <a:solidFill>
            <a:srgbClr val="131D2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20"/>
          <p:cNvSpPr/>
          <p:nvPr/>
        </p:nvSpPr>
        <p:spPr>
          <a:xfrm>
            <a:off x="1066800" y="4419600"/>
            <a:ext cx="4953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26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04</a:t>
            </a:r>
          </a:p>
        </p:txBody>
      </p:sp>
      <p:sp>
        <p:nvSpPr>
          <p:cNvPr id="26" name="rect 21"/>
          <p:cNvSpPr/>
          <p:nvPr/>
        </p:nvSpPr>
        <p:spPr>
          <a:xfrm>
            <a:off x="1778000" y="43942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期权定价</a:t>
            </a:r>
          </a:p>
        </p:txBody>
      </p:sp>
      <p:sp>
        <p:nvSpPr>
          <p:cNvPr id="27" name="rect 22"/>
          <p:cNvSpPr/>
          <p:nvPr/>
        </p:nvSpPr>
        <p:spPr>
          <a:xfrm>
            <a:off x="2997200" y="4394200"/>
            <a:ext cx="3492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ATM IV 16.43% vs 30日已实现 24.4%</a:t>
            </a:r>
          </a:p>
        </p:txBody>
      </p:sp>
      <p:sp>
        <p:nvSpPr>
          <p:cNvPr id="28" name="rect 23"/>
          <p:cNvSpPr/>
          <p:nvPr/>
        </p:nvSpPr>
        <p:spPr>
          <a:xfrm>
            <a:off x="1778000" y="4711700"/>
            <a:ext cx="2908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IV/RV = 0.67，市场低估波动而非方向</a:t>
            </a:r>
          </a:p>
        </p:txBody>
      </p:sp>
      <p:sp>
        <p:nvSpPr>
          <p:cNvPr id="29" name="rect 24"/>
          <p:cNvSpPr/>
          <p:nvPr/>
        </p:nvSpPr>
        <p:spPr>
          <a:xfrm>
            <a:off x="10680700" y="4508500"/>
            <a:ext cx="698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  <a:buNone/>
            </a:pPr>
            <a:r>
              <a:rPr lang="zh-CN" sz="2000" b="1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→ 中</a:t>
            </a:r>
          </a:p>
        </p:txBody>
      </p:sp>
      <p:sp>
        <p:nvSpPr>
          <p:cNvPr id="30" name="roundRect 5"/>
          <p:cNvSpPr/>
          <p:nvPr/>
        </p:nvSpPr>
        <p:spPr>
          <a:xfrm>
            <a:off x="812800" y="5156200"/>
            <a:ext cx="10566400" cy="787400"/>
          </a:xfrm>
          <a:prstGeom prst="roundRect">
            <a:avLst>
              <a:gd fmla="val 9677" name="adj"/>
            </a:avLst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5"/>
          <p:cNvSpPr/>
          <p:nvPr/>
        </p:nvSpPr>
        <p:spPr>
          <a:xfrm>
            <a:off x="1066800" y="5308600"/>
            <a:ext cx="495300" cy="3937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26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05</a:t>
            </a:r>
          </a:p>
        </p:txBody>
      </p:sp>
      <p:sp>
        <p:nvSpPr>
          <p:cNvPr id="32" name="rect 26"/>
          <p:cNvSpPr/>
          <p:nvPr/>
        </p:nvSpPr>
        <p:spPr>
          <a:xfrm>
            <a:off x="1778000" y="5283200"/>
            <a:ext cx="863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预测市场</a:t>
            </a:r>
          </a:p>
        </p:txBody>
      </p:sp>
      <p:sp>
        <p:nvSpPr>
          <p:cNvPr id="33" name="rect 27"/>
          <p:cNvSpPr/>
          <p:nvPr/>
        </p:nvSpPr>
        <p:spPr>
          <a:xfrm>
            <a:off x="2997200" y="5283200"/>
            <a:ext cx="4000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10月触 4,700 仅 12.5%；跌至 3,500 为 12%</a:t>
            </a:r>
          </a:p>
        </p:txBody>
      </p:sp>
      <p:sp>
        <p:nvSpPr>
          <p:cNvPr id="34" name="rect 28"/>
          <p:cNvSpPr/>
          <p:nvPr/>
        </p:nvSpPr>
        <p:spPr>
          <a:xfrm>
            <a:off x="1778000" y="5600700"/>
            <a:ext cx="241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短期突破无定价，下尾并不免费</a:t>
            </a:r>
          </a:p>
        </p:txBody>
      </p:sp>
      <p:sp>
        <p:nvSpPr>
          <p:cNvPr id="35" name="rect 29"/>
          <p:cNvSpPr/>
          <p:nvPr/>
        </p:nvSpPr>
        <p:spPr>
          <a:xfrm>
            <a:off x="10680700" y="5397500"/>
            <a:ext cx="698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86000"/>
              </a:lnSpc>
              <a:buNone/>
            </a:pPr>
            <a:r>
              <a:rPr lang="zh-CN" sz="20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↓ 空</a:t>
            </a:r>
          </a:p>
        </p:txBody>
      </p:sp>
      <p:sp>
        <p:nvSpPr>
          <p:cNvPr id="36" name="rect 30"/>
          <p:cNvSpPr/>
          <p:nvPr/>
        </p:nvSpPr>
        <p:spPr>
          <a:xfrm>
            <a:off x="812800" y="6146800"/>
            <a:ext cx="105664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7" name="rect 31"/>
          <p:cNvSpPr/>
          <p:nvPr/>
        </p:nvSpPr>
        <p:spPr>
          <a:xfrm>
            <a:off x="812800" y="6286500"/>
            <a:ext cx="9258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数据源：US Treasury TIPS 实际利率 · Yahoo Finance GC=F / GLD / GDX · YFinance GLD 期权链 · Polymarket · CNN FearGreed</a:t>
            </a:r>
          </a:p>
        </p:txBody>
      </p:sp>
      <p:sp>
        <p:nvSpPr>
          <p:cNvPr id="38" name="rect 32"/>
          <p:cNvSpPr/>
          <p:nvPr/>
        </p:nvSpPr>
        <p:spPr>
          <a:xfrm>
            <a:off x="812800" y="6540500"/>
            <a:ext cx="3492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基准价：4,321.20 USD/oz（2026-09-25 收盘）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812800" y="558800"/>
            <a:ext cx="558800" cy="635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35000"/>
            <a:ext cx="2387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两组关键矛盾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1168400"/>
            <a:ext cx="4305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CONTRADICTION ANALYSIS · 分歧本身就是高价值信号</a:t>
            </a:r>
          </a:p>
        </p:txBody>
      </p:sp>
      <p:sp>
        <p:nvSpPr>
          <p:cNvPr id="6" name="roundRect 1"/>
          <p:cNvSpPr/>
          <p:nvPr/>
        </p:nvSpPr>
        <p:spPr>
          <a:xfrm>
            <a:off x="812800" y="1600200"/>
            <a:ext cx="4724400" cy="2743200"/>
          </a:xfrm>
          <a:prstGeom prst="roundRect">
            <a:avLst>
              <a:gd fmla="val 3704" name="adj"/>
            </a:avLst>
          </a:prstGeom>
          <a:solidFill>
            <a:srgbClr val="16212E"/>
          </a:solidFill>
          <a:ln w="19050">
            <a:solidFill>
              <a:srgbClr val="4FB4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117600" y="17907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4FB477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实需托底</a:t>
            </a:r>
          </a:p>
        </p:txBody>
      </p:sp>
      <p:sp>
        <p:nvSpPr>
          <p:cNvPr id="8" name="rect 6"/>
          <p:cNvSpPr/>
          <p:nvPr/>
        </p:nvSpPr>
        <p:spPr>
          <a:xfrm>
            <a:off x="1117600" y="2146300"/>
            <a:ext cx="14097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STRUCTURAL BID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2552700"/>
            <a:ext cx="2857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央行 Q2 购金 289 吨（纪录水平）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2908300"/>
            <a:ext cx="323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9月全球黄金 ETF 净流入 ≈ 20亿 USD</a:t>
            </a:r>
          </a:p>
        </p:txBody>
      </p:sp>
      <p:sp>
        <p:nvSpPr>
          <p:cNvPr id="11" name="rect 9"/>
          <p:cNvSpPr/>
          <p:nvPr/>
        </p:nvSpPr>
        <p:spPr>
          <a:xfrm>
            <a:off x="1117600" y="3263900"/>
            <a:ext cx="2489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4,278–4,289 区间两次被接住</a:t>
            </a:r>
          </a:p>
        </p:txBody>
      </p:sp>
      <p:sp>
        <p:nvSpPr>
          <p:cNvPr id="12" name="rect 10"/>
          <p:cNvSpPr/>
          <p:nvPr/>
        </p:nvSpPr>
        <p:spPr>
          <a:xfrm>
            <a:off x="1117600" y="3759200"/>
            <a:ext cx="41148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 11"/>
          <p:cNvSpPr/>
          <p:nvPr/>
        </p:nvSpPr>
        <p:spPr>
          <a:xfrm>
            <a:off x="1117600" y="3886200"/>
            <a:ext cx="1816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4FB477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结论：底部是真实的</a:t>
            </a:r>
          </a:p>
        </p:txBody>
      </p:sp>
      <p:sp>
        <p:nvSpPr>
          <p:cNvPr id="14" name="roundRect 2"/>
          <p:cNvSpPr/>
          <p:nvPr/>
        </p:nvSpPr>
        <p:spPr>
          <a:xfrm>
            <a:off x="6654800" y="1600200"/>
            <a:ext cx="4724400" cy="2743200"/>
          </a:xfrm>
          <a:prstGeom prst="roundRect">
            <a:avLst>
              <a:gd fmla="val 3704" name="adj"/>
            </a:avLst>
          </a:prstGeom>
          <a:solidFill>
            <a:srgbClr val="16212E"/>
          </a:solidFill>
          <a:ln w="19050">
            <a:solidFill>
              <a:srgbClr val="E057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2"/>
          <p:cNvSpPr/>
          <p:nvPr/>
        </p:nvSpPr>
        <p:spPr>
          <a:xfrm>
            <a:off x="6959600" y="17907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资金先撤</a:t>
            </a:r>
          </a:p>
        </p:txBody>
      </p:sp>
      <p:sp>
        <p:nvSpPr>
          <p:cNvPr id="16" name="rect 13"/>
          <p:cNvSpPr/>
          <p:nvPr/>
        </p:nvSpPr>
        <p:spPr>
          <a:xfrm>
            <a:off x="6959600" y="2146300"/>
            <a:ext cx="1384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FLOW PRESSURE</a:t>
            </a:r>
          </a:p>
        </p:txBody>
      </p:sp>
      <p:sp>
        <p:nvSpPr>
          <p:cNvPr id="17" name="rect 14"/>
          <p:cNvSpPr/>
          <p:nvPr/>
        </p:nvSpPr>
        <p:spPr>
          <a:xfrm>
            <a:off x="6959600" y="2552700"/>
            <a:ext cx="318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10Y 实际利率 +20bp / 3天，加速上行</a:t>
            </a:r>
          </a:p>
        </p:txBody>
      </p:sp>
      <p:sp>
        <p:nvSpPr>
          <p:cNvPr id="18" name="rect 15"/>
          <p:cNvSpPr/>
          <p:nvPr/>
        </p:nvSpPr>
        <p:spPr>
          <a:xfrm>
            <a:off x="6959600" y="2908300"/>
            <a:ext cx="3810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CFTC 净多 30.9% OI（较 8/25 −17,358 手）</a:t>
            </a:r>
          </a:p>
        </p:txBody>
      </p:sp>
      <p:sp>
        <p:nvSpPr>
          <p:cNvPr id="19" name="rect 16"/>
          <p:cNvSpPr/>
          <p:nvPr/>
        </p:nvSpPr>
        <p:spPr>
          <a:xfrm>
            <a:off x="6959600" y="3263900"/>
            <a:ext cx="2755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GDX 跌破 95，下一档支撑 90.85</a:t>
            </a:r>
          </a:p>
        </p:txBody>
      </p:sp>
      <p:sp>
        <p:nvSpPr>
          <p:cNvPr id="20" name="rect 17"/>
          <p:cNvSpPr/>
          <p:nvPr/>
        </p:nvSpPr>
        <p:spPr>
          <a:xfrm>
            <a:off x="6959600" y="3759200"/>
            <a:ext cx="41148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8"/>
          <p:cNvSpPr/>
          <p:nvPr/>
        </p:nvSpPr>
        <p:spPr>
          <a:xfrm>
            <a:off x="6959600" y="3886200"/>
            <a:ext cx="2006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结论：流量在压制估值</a:t>
            </a:r>
          </a:p>
        </p:txBody>
      </p:sp>
      <p:sp>
        <p:nvSpPr>
          <p:cNvPr id="22" name="rect 19"/>
          <p:cNvSpPr/>
          <p:nvPr/>
        </p:nvSpPr>
        <p:spPr>
          <a:xfrm>
            <a:off x="5797550" y="2743200"/>
            <a:ext cx="5969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  <a:buNone/>
            </a:pPr>
            <a:r>
              <a:rPr lang="en-US" sz="30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VS</a:t>
            </a:r>
          </a:p>
        </p:txBody>
      </p:sp>
      <p:sp>
        <p:nvSpPr>
          <p:cNvPr id="23" name="roundRect 3"/>
          <p:cNvSpPr/>
          <p:nvPr/>
        </p:nvSpPr>
        <p:spPr>
          <a:xfrm>
            <a:off x="812800" y="4597400"/>
            <a:ext cx="10566400" cy="1193800"/>
          </a:xfrm>
          <a:prstGeom prst="roundRect">
            <a:avLst>
              <a:gd fmla="val 8511" name="adj"/>
            </a:avLst>
          </a:prstGeom>
          <a:solidFill>
            <a:srgbClr val="1C2A39"/>
          </a:solidFill>
          <a:ln w="12700">
            <a:solidFill>
              <a:srgbClr val="E8B5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20"/>
          <p:cNvSpPr/>
          <p:nvPr/>
        </p:nvSpPr>
        <p:spPr>
          <a:xfrm>
            <a:off x="1117600" y="4813300"/>
            <a:ext cx="406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破解</a:t>
            </a:r>
          </a:p>
        </p:txBody>
      </p:sp>
      <p:sp>
        <p:nvSpPr>
          <p:cNvPr id="25" name="rect 21"/>
          <p:cNvSpPr/>
          <p:nvPr/>
        </p:nvSpPr>
        <p:spPr>
          <a:xfrm>
            <a:off x="1117600" y="5130800"/>
            <a:ext cx="5372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期权 IV/RV = 0.67 说明市场低估的是「波动」，不是「方向」。</a:t>
            </a:r>
          </a:p>
        </p:txBody>
      </p:sp>
      <p:sp>
        <p:nvSpPr>
          <p:cNvPr id="26" name="rect 22"/>
          <p:cNvSpPr/>
          <p:nvPr/>
        </p:nvSpPr>
        <p:spPr>
          <a:xfrm>
            <a:off x="1117600" y="5435600"/>
            <a:ext cx="4965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赌方向会被实际利率锁住；赌波动的成本却是折价 33%。</a:t>
            </a:r>
          </a:p>
        </p:txBody>
      </p:sp>
      <p:sp>
        <p:nvSpPr>
          <p:cNvPr id="27" name="rect 23"/>
          <p:cNvSpPr/>
          <p:nvPr/>
        </p:nvSpPr>
        <p:spPr>
          <a:xfrm>
            <a:off x="812800" y="6146800"/>
            <a:ext cx="105664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24"/>
          <p:cNvSpPr/>
          <p:nvPr/>
        </p:nvSpPr>
        <p:spPr>
          <a:xfrm>
            <a:off x="812800" y="6286500"/>
            <a:ext cx="5537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矿商与金属是同一资产的两个定价层 —— 这是权重最高的分歧信号，不是观点。</a:t>
            </a:r>
          </a:p>
        </p:txBody>
      </p:sp>
      <p:sp>
        <p:nvSpPr>
          <p:cNvPr id="29" name="rect 25"/>
          <p:cNvSpPr/>
          <p:nvPr/>
        </p:nvSpPr>
        <p:spPr>
          <a:xfrm>
            <a:off x="812800" y="6540500"/>
            <a:ext cx="5283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央行/ETF 数据来源：World Gold Council 口径公开报道，属持仓流量证据。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812800" y="558800"/>
            <a:ext cx="558800" cy="635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35000"/>
            <a:ext cx="40132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概率场景：未来 6 个月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1168400"/>
            <a:ext cx="3365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PROBABILITY SCENARIOS · 自 4,321 起算</a:t>
            </a:r>
          </a:p>
        </p:txBody>
      </p:sp>
      <p:sp>
        <p:nvSpPr>
          <p:cNvPr id="6" name="rect 5"/>
          <p:cNvSpPr/>
          <p:nvPr/>
        </p:nvSpPr>
        <p:spPr>
          <a:xfrm>
            <a:off x="812800" y="1739900"/>
            <a:ext cx="3238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先跌后涨（下探 4,000–4,150 后修复）</a:t>
            </a:r>
          </a:p>
        </p:txBody>
      </p:sp>
      <p:sp>
        <p:nvSpPr>
          <p:cNvPr id="7" name="roundRect 1"/>
          <p:cNvSpPr/>
          <p:nvPr/>
        </p:nvSpPr>
        <p:spPr>
          <a:xfrm>
            <a:off x="4191000" y="1752600"/>
            <a:ext cx="5334000" cy="228600"/>
          </a:xfrm>
          <a:prstGeom prst="roundRect">
            <a:avLst>
              <a:gd fmla="val 16667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Rect 2"/>
          <p:cNvSpPr/>
          <p:nvPr/>
        </p:nvSpPr>
        <p:spPr>
          <a:xfrm>
            <a:off x="4191000" y="1752600"/>
            <a:ext cx="4267200" cy="228600"/>
          </a:xfrm>
          <a:prstGeom prst="roundRect">
            <a:avLst>
              <a:gd fmla="val 16667" name="adj"/>
            </a:avLst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9779000" y="1701800"/>
            <a:ext cx="609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40%</a:t>
            </a:r>
          </a:p>
        </p:txBody>
      </p:sp>
      <p:sp>
        <p:nvSpPr>
          <p:cNvPr id="10" name="rect 7"/>
          <p:cNvSpPr/>
          <p:nvPr/>
        </p:nvSpPr>
        <p:spPr>
          <a:xfrm>
            <a:off x="812800" y="2298700"/>
            <a:ext cx="1930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区间震荡 4,150–4,500</a:t>
            </a:r>
          </a:p>
        </p:txBody>
      </p:sp>
      <p:sp>
        <p:nvSpPr>
          <p:cNvPr id="11" name="roundRect 3"/>
          <p:cNvSpPr/>
          <p:nvPr/>
        </p:nvSpPr>
        <p:spPr>
          <a:xfrm>
            <a:off x="4191000" y="2311400"/>
            <a:ext cx="5334000" cy="228600"/>
          </a:xfrm>
          <a:prstGeom prst="roundRect">
            <a:avLst>
              <a:gd fmla="val 16667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Rect 4"/>
          <p:cNvSpPr/>
          <p:nvPr/>
        </p:nvSpPr>
        <p:spPr>
          <a:xfrm>
            <a:off x="4191000" y="2311400"/>
            <a:ext cx="3200400" cy="228600"/>
          </a:xfrm>
          <a:prstGeom prst="roundRect">
            <a:avLst>
              <a:gd fmla="val 16667" name="adj"/>
            </a:avLst>
          </a:prstGeom>
          <a:solidFill>
            <a:srgbClr val="AFC0D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8"/>
          <p:cNvSpPr/>
          <p:nvPr/>
        </p:nvSpPr>
        <p:spPr>
          <a:xfrm>
            <a:off x="9779000" y="2260600"/>
            <a:ext cx="609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AFC0D0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30%</a:t>
            </a:r>
          </a:p>
        </p:txBody>
      </p:sp>
      <p:sp>
        <p:nvSpPr>
          <p:cNvPr id="14" name="rect 9"/>
          <p:cNvSpPr/>
          <p:nvPr/>
        </p:nvSpPr>
        <p:spPr>
          <a:xfrm>
            <a:off x="812800" y="28575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直接上行走稳 4,500+</a:t>
            </a:r>
          </a:p>
        </p:txBody>
      </p:sp>
      <p:sp>
        <p:nvSpPr>
          <p:cNvPr id="15" name="roundRect 5"/>
          <p:cNvSpPr/>
          <p:nvPr/>
        </p:nvSpPr>
        <p:spPr>
          <a:xfrm>
            <a:off x="4191000" y="2870200"/>
            <a:ext cx="5334000" cy="228600"/>
          </a:xfrm>
          <a:prstGeom prst="roundRect">
            <a:avLst>
              <a:gd fmla="val 16667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Rect 6"/>
          <p:cNvSpPr/>
          <p:nvPr/>
        </p:nvSpPr>
        <p:spPr>
          <a:xfrm>
            <a:off x="4191000" y="2870200"/>
            <a:ext cx="3200400" cy="228600"/>
          </a:xfrm>
          <a:prstGeom prst="roundRect">
            <a:avLst>
              <a:gd fmla="val 16667" name="adj"/>
            </a:avLst>
          </a:prstGeom>
          <a:solidFill>
            <a:srgbClr val="4FB4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0"/>
          <p:cNvSpPr/>
          <p:nvPr/>
        </p:nvSpPr>
        <p:spPr>
          <a:xfrm>
            <a:off x="9779000" y="2819400"/>
            <a:ext cx="609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4FB477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30%</a:t>
            </a:r>
          </a:p>
        </p:txBody>
      </p:sp>
      <p:sp>
        <p:nvSpPr>
          <p:cNvPr id="18" name="rect 11"/>
          <p:cNvSpPr/>
          <p:nvPr/>
        </p:nvSpPr>
        <p:spPr>
          <a:xfrm>
            <a:off x="812800" y="3416300"/>
            <a:ext cx="1943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深度回撤至 3,800 以下</a:t>
            </a:r>
          </a:p>
        </p:txBody>
      </p:sp>
      <p:sp>
        <p:nvSpPr>
          <p:cNvPr id="19" name="roundRect 7"/>
          <p:cNvSpPr/>
          <p:nvPr/>
        </p:nvSpPr>
        <p:spPr>
          <a:xfrm>
            <a:off x="4191000" y="3429000"/>
            <a:ext cx="5334000" cy="228600"/>
          </a:xfrm>
          <a:prstGeom prst="roundRect">
            <a:avLst>
              <a:gd fmla="val 16667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Rect 8"/>
          <p:cNvSpPr/>
          <p:nvPr/>
        </p:nvSpPr>
        <p:spPr>
          <a:xfrm>
            <a:off x="4191000" y="3429000"/>
            <a:ext cx="2882900" cy="228600"/>
          </a:xfrm>
          <a:prstGeom prst="roundRect">
            <a:avLst>
              <a:gd fmla="val 16667" name="adj"/>
            </a:avLst>
          </a:prstGeom>
          <a:solidFill>
            <a:srgbClr val="E057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2"/>
          <p:cNvSpPr/>
          <p:nvPr/>
        </p:nvSpPr>
        <p:spPr>
          <a:xfrm>
            <a:off x="9779000" y="3378200"/>
            <a:ext cx="5969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E0574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27%</a:t>
            </a:r>
          </a:p>
        </p:txBody>
      </p:sp>
      <p:sp>
        <p:nvSpPr>
          <p:cNvPr id="22" name="rect 13"/>
          <p:cNvSpPr/>
          <p:nvPr/>
        </p:nvSpPr>
        <p:spPr>
          <a:xfrm>
            <a:off x="812800" y="4114800"/>
            <a:ext cx="4838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6 个月价格分布（由 GLD 6个月 ATM IV 21.9% 推导）</a:t>
            </a:r>
          </a:p>
        </p:txBody>
      </p:sp>
      <p:sp>
        <p:nvSpPr>
          <p:cNvPr id="23" name="roundRect 9"/>
          <p:cNvSpPr/>
          <p:nvPr/>
        </p:nvSpPr>
        <p:spPr>
          <a:xfrm>
            <a:off x="812800" y="4724400"/>
            <a:ext cx="10566400" cy="330200"/>
          </a:xfrm>
          <a:prstGeom prst="roundRect">
            <a:avLst>
              <a:gd fmla="val 15385" name="adj"/>
            </a:avLst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Rect 10"/>
          <p:cNvSpPr/>
          <p:nvPr/>
        </p:nvSpPr>
        <p:spPr>
          <a:xfrm>
            <a:off x="812800" y="4724400"/>
            <a:ext cx="10566400" cy="330200"/>
          </a:xfrm>
          <a:prstGeom prst="roundRect">
            <a:avLst>
              <a:gd fmla="val 15385" name="adj"/>
            </a:avLst>
          </a:prstGeom>
          <a:solidFill>
            <a:srgbClr val="E8B54D">
              <a:alpha val="8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4"/>
          <p:cNvSpPr/>
          <p:nvPr/>
        </p:nvSpPr>
        <p:spPr>
          <a:xfrm>
            <a:off x="3937000" y="4724400"/>
            <a:ext cx="5346700" cy="330200"/>
          </a:xfrm>
          <a:prstGeom prst="rect">
            <a:avLst/>
          </a:prstGeom>
          <a:solidFill>
            <a:srgbClr val="E8B54D">
              <a:alpha val="16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6" name="rect 15"/>
          <p:cNvSpPr/>
          <p:nvPr/>
        </p:nvSpPr>
        <p:spPr>
          <a:xfrm>
            <a:off x="5822950" y="4432300"/>
            <a:ext cx="15621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78000"/>
              </a:lnSpc>
              <a:buNone/>
            </a:pPr>
            <a:r>
              <a:rPr lang="zh-CN" sz="1100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1σ 区间 3,848 – 4,853</a:t>
            </a:r>
          </a:p>
        </p:txBody>
      </p:sp>
      <p:sp>
        <p:nvSpPr>
          <p:cNvPr id="27" name="rect 16"/>
          <p:cNvSpPr/>
          <p:nvPr/>
        </p:nvSpPr>
        <p:spPr>
          <a:xfrm>
            <a:off x="2438400" y="4648200"/>
            <a:ext cx="25400" cy="482600"/>
          </a:xfrm>
          <a:prstGeom prst="rect">
            <a:avLst/>
          </a:prstGeom>
          <a:solidFill>
            <a:srgbClr val="E0574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17"/>
          <p:cNvSpPr/>
          <p:nvPr/>
        </p:nvSpPr>
        <p:spPr>
          <a:xfrm>
            <a:off x="2184400" y="5219700"/>
            <a:ext cx="508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n-US" sz="1200">
                <a:solidFill>
                  <a:srgbClr val="E0574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4,000</a:t>
            </a:r>
          </a:p>
        </p:txBody>
      </p:sp>
      <p:sp>
        <p:nvSpPr>
          <p:cNvPr id="29" name="rect 18"/>
          <p:cNvSpPr/>
          <p:nvPr/>
        </p:nvSpPr>
        <p:spPr>
          <a:xfrm>
            <a:off x="4038600" y="4572000"/>
            <a:ext cx="25400" cy="635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0" name="rect 19"/>
          <p:cNvSpPr/>
          <p:nvPr/>
        </p:nvSpPr>
        <p:spPr>
          <a:xfrm>
            <a:off x="3587750" y="5486400"/>
            <a:ext cx="901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zh-CN" sz="13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4,321 现价</a:t>
            </a:r>
          </a:p>
        </p:txBody>
      </p:sp>
      <p:sp>
        <p:nvSpPr>
          <p:cNvPr id="31" name="rect 20"/>
          <p:cNvSpPr/>
          <p:nvPr/>
        </p:nvSpPr>
        <p:spPr>
          <a:xfrm>
            <a:off x="7734300" y="4648200"/>
            <a:ext cx="25400" cy="482600"/>
          </a:xfrm>
          <a:prstGeom prst="rect">
            <a:avLst/>
          </a:prstGeom>
          <a:solidFill>
            <a:srgbClr val="4FB477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2" name="rect 21"/>
          <p:cNvSpPr/>
          <p:nvPr/>
        </p:nvSpPr>
        <p:spPr>
          <a:xfrm>
            <a:off x="7480300" y="5219700"/>
            <a:ext cx="508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n-US" sz="1200">
                <a:solidFill>
                  <a:srgbClr val="4FB477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4,500</a:t>
            </a:r>
          </a:p>
        </p:txBody>
      </p:sp>
      <p:sp>
        <p:nvSpPr>
          <p:cNvPr id="33" name="rect 22"/>
          <p:cNvSpPr/>
          <p:nvPr/>
        </p:nvSpPr>
        <p:spPr>
          <a:xfrm>
            <a:off x="9486900" y="4648200"/>
            <a:ext cx="25400" cy="4826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4" name="rect 23"/>
          <p:cNvSpPr/>
          <p:nvPr/>
        </p:nvSpPr>
        <p:spPr>
          <a:xfrm>
            <a:off x="9239250" y="5219700"/>
            <a:ext cx="4953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n-US" sz="1200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4,700</a:t>
            </a:r>
          </a:p>
        </p:txBody>
      </p:sp>
      <p:sp>
        <p:nvSpPr>
          <p:cNvPr id="35" name="rect 24"/>
          <p:cNvSpPr/>
          <p:nvPr/>
        </p:nvSpPr>
        <p:spPr>
          <a:xfrm>
            <a:off x="812800" y="6007100"/>
            <a:ext cx="5422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1σ = 3,848 – 4,853 ｜ 6 个月 P(触及 4,000) = 51% ｜ P(触及 4,700) = 47%</a:t>
            </a:r>
          </a:p>
        </p:txBody>
      </p:sp>
      <p:sp>
        <p:nvSpPr>
          <p:cNvPr id="36" name="rect 25"/>
          <p:cNvSpPr/>
          <p:nvPr/>
        </p:nvSpPr>
        <p:spPr>
          <a:xfrm>
            <a:off x="812800" y="6311900"/>
            <a:ext cx="6057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Polymarket 12月到期对照：触 4,500 = 49.5% ｜ 触 3,500 = 12% ｜ 触 5,000 = 42%</a:t>
            </a:r>
          </a:p>
        </p:txBody>
      </p:sp>
      <p:sp>
        <p:nvSpPr>
          <p:cNvPr id="37" name="rect 26"/>
          <p:cNvSpPr/>
          <p:nvPr/>
        </p:nvSpPr>
        <p:spPr>
          <a:xfrm>
            <a:off x="812800" y="6565900"/>
            <a:ext cx="58547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zh-CN" sz="11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深度回撤场景与 1σ 下沿不同轴（前者为路径事件，后者为期末分布），故概率不可直接相加。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812800" y="558800"/>
            <a:ext cx="558800" cy="635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35000"/>
            <a:ext cx="5816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操作框架：什么时候才是「现在」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1168400"/>
            <a:ext cx="4178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OPERATION FRAMEWORK · 位置与时机必须同时满足</a:t>
            </a:r>
          </a:p>
        </p:txBody>
      </p:sp>
      <p:sp>
        <p:nvSpPr>
          <p:cNvPr id="6" name="roundRect 1"/>
          <p:cNvSpPr/>
          <p:nvPr/>
        </p:nvSpPr>
        <p:spPr>
          <a:xfrm>
            <a:off x="812800" y="2235200"/>
            <a:ext cx="10566400" cy="152400"/>
          </a:xfrm>
          <a:prstGeom prst="roundRect">
            <a:avLst>
              <a:gd fmla="val 50000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Rect 2"/>
          <p:cNvSpPr/>
          <p:nvPr/>
        </p:nvSpPr>
        <p:spPr>
          <a:xfrm>
            <a:off x="812800" y="2235200"/>
            <a:ext cx="2641600" cy="152400"/>
          </a:xfrm>
          <a:prstGeom prst="roundRect">
            <a:avLst>
              <a:gd fmla="val 50000" name="adj"/>
            </a:avLst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5"/>
          <p:cNvSpPr/>
          <p:nvPr/>
        </p:nvSpPr>
        <p:spPr>
          <a:xfrm>
            <a:off x="4775200" y="2235200"/>
            <a:ext cx="1981200" cy="152400"/>
          </a:xfrm>
          <a:prstGeom prst="rect">
            <a:avLst/>
          </a:prstGeom>
          <a:solidFill>
            <a:srgbClr val="E0574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oundRect 3"/>
          <p:cNvSpPr/>
          <p:nvPr/>
        </p:nvSpPr>
        <p:spPr>
          <a:xfrm>
            <a:off x="7416800" y="2235200"/>
            <a:ext cx="3962400" cy="152400"/>
          </a:xfrm>
          <a:prstGeom prst="roundRect">
            <a:avLst>
              <a:gd fmla="val 50000" name="adj"/>
            </a:avLst>
          </a:prstGeom>
          <a:solidFill>
            <a:srgbClr val="4FB4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6"/>
          <p:cNvSpPr/>
          <p:nvPr/>
        </p:nvSpPr>
        <p:spPr>
          <a:xfrm>
            <a:off x="812800" y="18669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4,150</a:t>
            </a:r>
          </a:p>
        </p:txBody>
      </p:sp>
      <p:sp>
        <p:nvSpPr>
          <p:cNvPr id="11" name="rect 7"/>
          <p:cNvSpPr/>
          <p:nvPr/>
        </p:nvSpPr>
        <p:spPr>
          <a:xfrm>
            <a:off x="4775200" y="1866900"/>
            <a:ext cx="508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4,250</a:t>
            </a:r>
          </a:p>
        </p:txBody>
      </p:sp>
      <p:sp>
        <p:nvSpPr>
          <p:cNvPr id="12" name="rect 8"/>
          <p:cNvSpPr/>
          <p:nvPr/>
        </p:nvSpPr>
        <p:spPr>
          <a:xfrm>
            <a:off x="5689600" y="1866900"/>
            <a:ext cx="482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4,321</a:t>
            </a:r>
          </a:p>
        </p:txBody>
      </p:sp>
      <p:sp>
        <p:nvSpPr>
          <p:cNvPr id="13" name="rect 9"/>
          <p:cNvSpPr/>
          <p:nvPr/>
        </p:nvSpPr>
        <p:spPr>
          <a:xfrm>
            <a:off x="7416800" y="1866900"/>
            <a:ext cx="508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4,400</a:t>
            </a:r>
          </a:p>
        </p:txBody>
      </p:sp>
      <p:sp>
        <p:nvSpPr>
          <p:cNvPr id="14" name="rect 10"/>
          <p:cNvSpPr/>
          <p:nvPr/>
        </p:nvSpPr>
        <p:spPr>
          <a:xfrm>
            <a:off x="10934700" y="1866900"/>
            <a:ext cx="508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200">
                <a:solidFill>
                  <a:srgbClr val="7A8A9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4,500</a:t>
            </a:r>
          </a:p>
        </p:txBody>
      </p:sp>
      <p:sp>
        <p:nvSpPr>
          <p:cNvPr id="15" name="rect 11"/>
          <p:cNvSpPr/>
          <p:nvPr/>
        </p:nvSpPr>
        <p:spPr>
          <a:xfrm>
            <a:off x="5816600" y="2108200"/>
            <a:ext cx="25400" cy="4064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ect 12"/>
          <p:cNvSpPr/>
          <p:nvPr/>
        </p:nvSpPr>
        <p:spPr>
          <a:xfrm>
            <a:off x="1263650" y="2489200"/>
            <a:ext cx="1282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  <a:buNone/>
            </a:pPr>
            <a:r>
              <a:rPr lang="en-US" sz="1500" b="1">
                <a:solidFill>
                  <a:srgbClr val="E8B54D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4,200–4,250</a:t>
            </a:r>
          </a:p>
        </p:txBody>
      </p:sp>
      <p:sp>
        <p:nvSpPr>
          <p:cNvPr id="17" name="rect 13"/>
          <p:cNvSpPr/>
          <p:nvPr/>
        </p:nvSpPr>
        <p:spPr>
          <a:xfrm>
            <a:off x="1473200" y="2781300"/>
            <a:ext cx="863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zh-CN" sz="12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理想建仓区</a:t>
            </a:r>
          </a:p>
        </p:txBody>
      </p:sp>
      <p:sp>
        <p:nvSpPr>
          <p:cNvPr id="18" name="rect 14"/>
          <p:cNvSpPr/>
          <p:nvPr/>
        </p:nvSpPr>
        <p:spPr>
          <a:xfrm>
            <a:off x="5422900" y="2489200"/>
            <a:ext cx="10160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  <a:buNone/>
            </a:pPr>
            <a:r>
              <a:rPr lang="zh-CN" sz="15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现在 4,321</a:t>
            </a:r>
          </a:p>
        </p:txBody>
      </p:sp>
      <p:sp>
        <p:nvSpPr>
          <p:cNvPr id="19" name="rect 15"/>
          <p:cNvSpPr/>
          <p:nvPr/>
        </p:nvSpPr>
        <p:spPr>
          <a:xfrm>
            <a:off x="5727700" y="2781300"/>
            <a:ext cx="406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zh-CN" sz="12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不追</a:t>
            </a:r>
          </a:p>
        </p:txBody>
      </p:sp>
      <p:sp>
        <p:nvSpPr>
          <p:cNvPr id="20" name="rect 16"/>
          <p:cNvSpPr/>
          <p:nvPr/>
        </p:nvSpPr>
        <p:spPr>
          <a:xfrm>
            <a:off x="9036050" y="2489200"/>
            <a:ext cx="723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  <a:buNone/>
            </a:pPr>
            <a:r>
              <a:rPr lang="en-US" sz="1500" b="1">
                <a:solidFill>
                  <a:srgbClr val="4FB477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4,500+</a:t>
            </a:r>
          </a:p>
        </p:txBody>
      </p:sp>
      <p:sp>
        <p:nvSpPr>
          <p:cNvPr id="21" name="rect 17"/>
          <p:cNvSpPr/>
          <p:nvPr/>
        </p:nvSpPr>
        <p:spPr>
          <a:xfrm>
            <a:off x="8966200" y="2781300"/>
            <a:ext cx="8636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zh-CN" sz="12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确认后加仓</a:t>
            </a:r>
          </a:p>
        </p:txBody>
      </p:sp>
      <p:sp>
        <p:nvSpPr>
          <p:cNvPr id="22" name="roundRect 4"/>
          <p:cNvSpPr/>
          <p:nvPr/>
        </p:nvSpPr>
        <p:spPr>
          <a:xfrm>
            <a:off x="812800" y="3327400"/>
            <a:ext cx="3378200" cy="2489200"/>
          </a:xfrm>
          <a:prstGeom prst="roundRect">
            <a:avLst>
              <a:gd fmla="val 4082" name="adj"/>
            </a:avLst>
          </a:prstGeom>
          <a:solidFill>
            <a:srgbClr val="16212E"/>
          </a:solidFill>
          <a:ln w="19050">
            <a:solidFill>
              <a:srgbClr val="E057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8"/>
          <p:cNvSpPr/>
          <p:nvPr/>
        </p:nvSpPr>
        <p:spPr>
          <a:xfrm>
            <a:off x="1092200" y="3492500"/>
            <a:ext cx="939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✕ 不建议</a:t>
            </a:r>
          </a:p>
        </p:txBody>
      </p:sp>
      <p:sp>
        <p:nvSpPr>
          <p:cNvPr id="24" name="rect 19"/>
          <p:cNvSpPr/>
          <p:nvPr/>
        </p:nvSpPr>
        <p:spPr>
          <a:xfrm>
            <a:off x="1092200" y="38354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现在满仓做多</a:t>
            </a:r>
          </a:p>
        </p:txBody>
      </p:sp>
      <p:sp>
        <p:nvSpPr>
          <p:cNvPr id="25" name="rect 20"/>
          <p:cNvSpPr/>
          <p:nvPr/>
        </p:nvSpPr>
        <p:spPr>
          <a:xfrm>
            <a:off x="1092200" y="4191000"/>
            <a:ext cx="28194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6" name="rect 21"/>
          <p:cNvSpPr/>
          <p:nvPr/>
        </p:nvSpPr>
        <p:spPr>
          <a:xfrm>
            <a:off x="1092200" y="4343400"/>
            <a:ext cx="170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实际利率 +20bp/3天</a:t>
            </a:r>
          </a:p>
        </p:txBody>
      </p:sp>
      <p:sp>
        <p:nvSpPr>
          <p:cNvPr id="27" name="rect 22"/>
          <p:cNvSpPr/>
          <p:nvPr/>
        </p:nvSpPr>
        <p:spPr>
          <a:xfrm>
            <a:off x="1092200" y="46482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加速上行</a:t>
            </a:r>
          </a:p>
        </p:txBody>
      </p:sp>
      <p:sp>
        <p:nvSpPr>
          <p:cNvPr id="28" name="rect 23"/>
          <p:cNvSpPr/>
          <p:nvPr/>
        </p:nvSpPr>
        <p:spPr>
          <a:xfrm>
            <a:off x="1092200" y="5003800"/>
            <a:ext cx="1384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矿商 GDX 已破位</a:t>
            </a:r>
          </a:p>
        </p:txBody>
      </p:sp>
      <p:sp>
        <p:nvSpPr>
          <p:cNvPr id="29" name="rect 24"/>
          <p:cNvSpPr/>
          <p:nvPr/>
        </p:nvSpPr>
        <p:spPr>
          <a:xfrm>
            <a:off x="1092200" y="5359400"/>
            <a:ext cx="142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投机净多仍在高位</a:t>
            </a:r>
          </a:p>
        </p:txBody>
      </p:sp>
      <p:sp>
        <p:nvSpPr>
          <p:cNvPr id="30" name="roundRect 5"/>
          <p:cNvSpPr/>
          <p:nvPr/>
        </p:nvSpPr>
        <p:spPr>
          <a:xfrm>
            <a:off x="4406900" y="3327400"/>
            <a:ext cx="3378200" cy="2489200"/>
          </a:xfrm>
          <a:prstGeom prst="roundRect">
            <a:avLst>
              <a:gd fmla="val 4082" name="adj"/>
            </a:avLst>
          </a:prstGeom>
          <a:solidFill>
            <a:srgbClr val="16212E"/>
          </a:solidFill>
          <a:ln w="19050">
            <a:solidFill>
              <a:srgbClr val="E8B5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5"/>
          <p:cNvSpPr/>
          <p:nvPr/>
        </p:nvSpPr>
        <p:spPr>
          <a:xfrm>
            <a:off x="4686300" y="3492500"/>
            <a:ext cx="977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△ 可考虑</a:t>
            </a:r>
          </a:p>
        </p:txBody>
      </p:sp>
      <p:sp>
        <p:nvSpPr>
          <p:cNvPr id="32" name="rect 26"/>
          <p:cNvSpPr/>
          <p:nvPr/>
        </p:nvSpPr>
        <p:spPr>
          <a:xfrm>
            <a:off x="4686300" y="3835400"/>
            <a:ext cx="147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小仓位 ≤ 1/3 试探</a:t>
            </a:r>
          </a:p>
        </p:txBody>
      </p:sp>
      <p:sp>
        <p:nvSpPr>
          <p:cNvPr id="33" name="rect 27"/>
          <p:cNvSpPr/>
          <p:nvPr/>
        </p:nvSpPr>
        <p:spPr>
          <a:xfrm>
            <a:off x="4686300" y="4191000"/>
            <a:ext cx="28194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4" name="rect 28"/>
          <p:cNvSpPr/>
          <p:nvPr/>
        </p:nvSpPr>
        <p:spPr>
          <a:xfrm>
            <a:off x="4686300" y="4343400"/>
            <a:ext cx="2006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央行 Q2 购金 289 吨托底</a:t>
            </a:r>
          </a:p>
        </p:txBody>
      </p:sp>
      <p:sp>
        <p:nvSpPr>
          <p:cNvPr id="35" name="rect 29"/>
          <p:cNvSpPr/>
          <p:nvPr/>
        </p:nvSpPr>
        <p:spPr>
          <a:xfrm>
            <a:off x="4686300" y="4648200"/>
            <a:ext cx="1511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期权定价折价 33%</a:t>
            </a:r>
          </a:p>
        </p:txBody>
      </p:sp>
      <p:sp>
        <p:nvSpPr>
          <p:cNvPr id="36" name="rect 30"/>
          <p:cNvSpPr/>
          <p:nvPr/>
        </p:nvSpPr>
        <p:spPr>
          <a:xfrm>
            <a:off x="4686300" y="5003800"/>
            <a:ext cx="1892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预留 4,200–4,250 加仓</a:t>
            </a:r>
          </a:p>
        </p:txBody>
      </p:sp>
      <p:sp>
        <p:nvSpPr>
          <p:cNvPr id="37" name="rect 31"/>
          <p:cNvSpPr/>
          <p:nvPr/>
        </p:nvSpPr>
        <p:spPr>
          <a:xfrm>
            <a:off x="4686300" y="5359400"/>
            <a:ext cx="1308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不设 4,278 止损</a:t>
            </a:r>
          </a:p>
        </p:txBody>
      </p:sp>
      <p:sp>
        <p:nvSpPr>
          <p:cNvPr id="38" name="roundRect 6"/>
          <p:cNvSpPr/>
          <p:nvPr/>
        </p:nvSpPr>
        <p:spPr>
          <a:xfrm>
            <a:off x="8001000" y="3327400"/>
            <a:ext cx="3378200" cy="2489200"/>
          </a:xfrm>
          <a:prstGeom prst="roundRect">
            <a:avLst>
              <a:gd fmla="val 4082" name="adj"/>
            </a:avLst>
          </a:prstGeom>
          <a:solidFill>
            <a:srgbClr val="16212E"/>
          </a:solidFill>
          <a:ln w="19050">
            <a:solidFill>
              <a:srgbClr val="4FB4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 32"/>
          <p:cNvSpPr/>
          <p:nvPr/>
        </p:nvSpPr>
        <p:spPr>
          <a:xfrm>
            <a:off x="8280400" y="3492500"/>
            <a:ext cx="1143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 b="1">
                <a:solidFill>
                  <a:srgbClr val="4FB477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✓ 更优表达</a:t>
            </a:r>
          </a:p>
        </p:txBody>
      </p:sp>
      <p:sp>
        <p:nvSpPr>
          <p:cNvPr id="40" name="rect 33"/>
          <p:cNvSpPr/>
          <p:nvPr/>
        </p:nvSpPr>
        <p:spPr>
          <a:xfrm>
            <a:off x="8280400" y="3835400"/>
            <a:ext cx="125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用期权替代现货</a:t>
            </a:r>
          </a:p>
        </p:txBody>
      </p:sp>
      <p:sp>
        <p:nvSpPr>
          <p:cNvPr id="41" name="rect 34"/>
          <p:cNvSpPr/>
          <p:nvPr/>
        </p:nvSpPr>
        <p:spPr>
          <a:xfrm>
            <a:off x="8280400" y="4191000"/>
            <a:ext cx="28194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2" name="rect 35"/>
          <p:cNvSpPr/>
          <p:nvPr/>
        </p:nvSpPr>
        <p:spPr>
          <a:xfrm>
            <a:off x="8280400" y="43434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AFC0D0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IV/RV = 0.67</a:t>
            </a:r>
          </a:p>
        </p:txBody>
      </p:sp>
      <p:sp>
        <p:nvSpPr>
          <p:cNvPr id="43" name="rect 36"/>
          <p:cNvSpPr/>
          <p:nvPr/>
        </p:nvSpPr>
        <p:spPr>
          <a:xfrm>
            <a:off x="8280400" y="4648200"/>
            <a:ext cx="142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买期权优于买现货</a:t>
            </a:r>
          </a:p>
        </p:txBody>
      </p:sp>
      <p:sp>
        <p:nvSpPr>
          <p:cNvPr id="44" name="rect 37"/>
          <p:cNvSpPr/>
          <p:nvPr/>
        </p:nvSpPr>
        <p:spPr>
          <a:xfrm>
            <a:off x="8280400" y="5003800"/>
            <a:ext cx="1092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最大亏损封顶</a:t>
            </a:r>
          </a:p>
        </p:txBody>
      </p:sp>
      <p:sp>
        <p:nvSpPr>
          <p:cNvPr id="45" name="rect 38"/>
          <p:cNvSpPr/>
          <p:nvPr/>
        </p:nvSpPr>
        <p:spPr>
          <a:xfrm>
            <a:off x="8280400" y="5359400"/>
            <a:ext cx="1422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避开净多平仓踩踏</a:t>
            </a:r>
          </a:p>
        </p:txBody>
      </p:sp>
      <p:sp>
        <p:nvSpPr>
          <p:cNvPr id="46" name="rect 39"/>
          <p:cNvSpPr/>
          <p:nvPr/>
        </p:nvSpPr>
        <p:spPr>
          <a:xfrm>
            <a:off x="812800" y="6083300"/>
            <a:ext cx="5842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4,278 作止损仅 0.97 个日 σ = 噪音，几乎必然被打掉；2σ 止损应放在 4,232 之下。</a:t>
            </a:r>
          </a:p>
        </p:txBody>
      </p:sp>
      <p:sp>
        <p:nvSpPr>
          <p:cNvPr id="47" name="rect 40"/>
          <p:cNvSpPr/>
          <p:nvPr/>
        </p:nvSpPr>
        <p:spPr>
          <a:xfrm>
            <a:off x="812800" y="6362700"/>
            <a:ext cx="6502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本页为交易数据推导的风险回报框架，不构成个性化投资建议；仓位由自身风险承受能力决定。</a:t>
            </a:r>
          </a:p>
        </p:txBody>
      </p:sp>
      <p:sp>
        <p:nvSpPr>
          <p:cNvPr id="48" name="rect 41"/>
          <p:cNvSpPr/>
          <p:nvPr/>
        </p:nvSpPr>
        <p:spPr>
          <a:xfrm>
            <a:off x="812800" y="6616700"/>
            <a:ext cx="37084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zh-CN" sz="11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σ 由 GLD 9/28 到期 ATM IV 16.43% 折算每日 1.035%。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812800" y="558800"/>
            <a:ext cx="558800" cy="635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35000"/>
            <a:ext cx="5054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监测阈值：满足这些才是买点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1168400"/>
            <a:ext cx="5473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MONITORING THRESHOLDS · 触发条件决定「现在」何时变成「当时」</a:t>
            </a:r>
          </a:p>
        </p:txBody>
      </p:sp>
      <p:sp>
        <p:nvSpPr>
          <p:cNvPr id="6" name="roundRect 1"/>
          <p:cNvSpPr/>
          <p:nvPr/>
        </p:nvSpPr>
        <p:spPr>
          <a:xfrm>
            <a:off x="812800" y="1625600"/>
            <a:ext cx="10566400" cy="482600"/>
          </a:xfrm>
          <a:prstGeom prst="roundRect">
            <a:avLst>
              <a:gd fmla="val 10526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17653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信号</a:t>
            </a:r>
          </a:p>
        </p:txBody>
      </p:sp>
      <p:sp>
        <p:nvSpPr>
          <p:cNvPr id="8" name="rect 6"/>
          <p:cNvSpPr/>
          <p:nvPr/>
        </p:nvSpPr>
        <p:spPr>
          <a:xfrm>
            <a:off x="4013200" y="1765300"/>
            <a:ext cx="596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当前值</a:t>
            </a:r>
          </a:p>
        </p:txBody>
      </p:sp>
      <p:sp>
        <p:nvSpPr>
          <p:cNvPr id="9" name="rect 7"/>
          <p:cNvSpPr/>
          <p:nvPr/>
        </p:nvSpPr>
        <p:spPr>
          <a:xfrm>
            <a:off x="6807200" y="1765300"/>
            <a:ext cx="762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触发条件</a:t>
            </a:r>
          </a:p>
        </p:txBody>
      </p:sp>
      <p:sp>
        <p:nvSpPr>
          <p:cNvPr id="10" name="rect 8"/>
          <p:cNvSpPr/>
          <p:nvPr/>
        </p:nvSpPr>
        <p:spPr>
          <a:xfrm>
            <a:off x="9144000" y="17653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含义</a:t>
            </a:r>
          </a:p>
        </p:txBody>
      </p:sp>
      <p:sp>
        <p:nvSpPr>
          <p:cNvPr id="11" name="rect 9"/>
          <p:cNvSpPr/>
          <p:nvPr/>
        </p:nvSpPr>
        <p:spPr>
          <a:xfrm>
            <a:off x="812800" y="2108200"/>
            <a:ext cx="10566400" cy="73660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ect 10"/>
          <p:cNvSpPr/>
          <p:nvPr/>
        </p:nvSpPr>
        <p:spPr>
          <a:xfrm>
            <a:off x="1066800" y="2374900"/>
            <a:ext cx="1600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10Y TIPS 实际利率</a:t>
            </a:r>
          </a:p>
        </p:txBody>
      </p:sp>
      <p:sp>
        <p:nvSpPr>
          <p:cNvPr id="13" name="rect 11"/>
          <p:cNvSpPr/>
          <p:nvPr/>
        </p:nvSpPr>
        <p:spPr>
          <a:xfrm>
            <a:off x="4013200" y="2374900"/>
            <a:ext cx="1752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2.83%（+51bp/月）</a:t>
            </a:r>
          </a:p>
        </p:txBody>
      </p:sp>
      <p:sp>
        <p:nvSpPr>
          <p:cNvPr id="14" name="rect 12"/>
          <p:cNvSpPr/>
          <p:nvPr/>
        </p:nvSpPr>
        <p:spPr>
          <a:xfrm>
            <a:off x="6807200" y="2374900"/>
            <a:ext cx="1651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回落至 2.60% 以下</a:t>
            </a:r>
          </a:p>
        </p:txBody>
      </p:sp>
      <p:sp>
        <p:nvSpPr>
          <p:cNvPr id="15" name="rect 13"/>
          <p:cNvSpPr/>
          <p:nvPr/>
        </p:nvSpPr>
        <p:spPr>
          <a:xfrm>
            <a:off x="9144000" y="2374900"/>
            <a:ext cx="2133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逆风解除，胜率升至 70%</a:t>
            </a:r>
          </a:p>
        </p:txBody>
      </p:sp>
      <p:sp>
        <p:nvSpPr>
          <p:cNvPr id="16" name="rect 14"/>
          <p:cNvSpPr/>
          <p:nvPr/>
        </p:nvSpPr>
        <p:spPr>
          <a:xfrm>
            <a:off x="812800" y="2844800"/>
            <a:ext cx="10566400" cy="736600"/>
          </a:xfrm>
          <a:prstGeom prst="rect">
            <a:avLst/>
          </a:prstGeom>
          <a:solidFill>
            <a:srgbClr val="131D29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7" name="rect 15"/>
          <p:cNvSpPr/>
          <p:nvPr/>
        </p:nvSpPr>
        <p:spPr>
          <a:xfrm>
            <a:off x="1066800" y="3111500"/>
            <a:ext cx="1066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GDX 金矿股</a:t>
            </a:r>
          </a:p>
        </p:txBody>
      </p:sp>
      <p:sp>
        <p:nvSpPr>
          <p:cNvPr id="18" name="rect 16"/>
          <p:cNvSpPr/>
          <p:nvPr/>
        </p:nvSpPr>
        <p:spPr>
          <a:xfrm>
            <a:off x="4013200" y="3111500"/>
            <a:ext cx="1549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92.87（已破 95）</a:t>
            </a:r>
          </a:p>
        </p:txBody>
      </p:sp>
      <p:sp>
        <p:nvSpPr>
          <p:cNvPr id="19" name="rect 17"/>
          <p:cNvSpPr/>
          <p:nvPr/>
        </p:nvSpPr>
        <p:spPr>
          <a:xfrm>
            <a:off x="6807200" y="3111500"/>
            <a:ext cx="876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收复 97.8</a:t>
            </a:r>
          </a:p>
        </p:txBody>
      </p:sp>
      <p:sp>
        <p:nvSpPr>
          <p:cNvPr id="20" name="rect 18"/>
          <p:cNvSpPr/>
          <p:nvPr/>
        </p:nvSpPr>
        <p:spPr>
          <a:xfrm>
            <a:off x="9144000" y="3111500"/>
            <a:ext cx="1168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矿商领涨确认</a:t>
            </a:r>
          </a:p>
        </p:txBody>
      </p:sp>
      <p:sp>
        <p:nvSpPr>
          <p:cNvPr id="21" name="rect 19"/>
          <p:cNvSpPr/>
          <p:nvPr/>
        </p:nvSpPr>
        <p:spPr>
          <a:xfrm>
            <a:off x="812800" y="3581400"/>
            <a:ext cx="10566400" cy="73660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ect 20"/>
          <p:cNvSpPr/>
          <p:nvPr/>
        </p:nvSpPr>
        <p:spPr>
          <a:xfrm>
            <a:off x="1066800" y="3848100"/>
            <a:ext cx="172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CFTC 净多 / 持仓量</a:t>
            </a:r>
          </a:p>
        </p:txBody>
      </p:sp>
      <p:sp>
        <p:nvSpPr>
          <p:cNvPr id="23" name="rect 21"/>
          <p:cNvSpPr/>
          <p:nvPr/>
        </p:nvSpPr>
        <p:spPr>
          <a:xfrm>
            <a:off x="4013200" y="384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E0574A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30.9%</a:t>
            </a:r>
          </a:p>
        </p:txBody>
      </p:sp>
      <p:sp>
        <p:nvSpPr>
          <p:cNvPr id="24" name="rect 22"/>
          <p:cNvSpPr/>
          <p:nvPr/>
        </p:nvSpPr>
        <p:spPr>
          <a:xfrm>
            <a:off x="6807200" y="3848100"/>
            <a:ext cx="132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降至 25% 以下</a:t>
            </a:r>
          </a:p>
        </p:txBody>
      </p:sp>
      <p:sp>
        <p:nvSpPr>
          <p:cNvPr id="25" name="rect 23"/>
          <p:cNvSpPr/>
          <p:nvPr/>
        </p:nvSpPr>
        <p:spPr>
          <a:xfrm>
            <a:off x="9144000" y="3848100"/>
            <a:ext cx="1879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投机盘出清，底部扎实</a:t>
            </a:r>
          </a:p>
        </p:txBody>
      </p:sp>
      <p:sp>
        <p:nvSpPr>
          <p:cNvPr id="26" name="rect 24"/>
          <p:cNvSpPr/>
          <p:nvPr/>
        </p:nvSpPr>
        <p:spPr>
          <a:xfrm>
            <a:off x="812800" y="4318000"/>
            <a:ext cx="10566400" cy="736600"/>
          </a:xfrm>
          <a:prstGeom prst="rect">
            <a:avLst/>
          </a:prstGeom>
          <a:solidFill>
            <a:srgbClr val="131D29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7" name="rect 25"/>
          <p:cNvSpPr/>
          <p:nvPr/>
        </p:nvSpPr>
        <p:spPr>
          <a:xfrm>
            <a:off x="1066800" y="45847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现货金价</a:t>
            </a:r>
          </a:p>
        </p:txBody>
      </p:sp>
      <p:sp>
        <p:nvSpPr>
          <p:cNvPr id="28" name="rect 26"/>
          <p:cNvSpPr/>
          <p:nvPr/>
        </p:nvSpPr>
        <p:spPr>
          <a:xfrm>
            <a:off x="4013200" y="4584700"/>
            <a:ext cx="54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F2F5F8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4,321</a:t>
            </a:r>
          </a:p>
        </p:txBody>
      </p:sp>
      <p:sp>
        <p:nvSpPr>
          <p:cNvPr id="29" name="rect 27"/>
          <p:cNvSpPr/>
          <p:nvPr/>
        </p:nvSpPr>
        <p:spPr>
          <a:xfrm>
            <a:off x="6807200" y="4584700"/>
            <a:ext cx="1612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跌至 4,200–4,250</a:t>
            </a:r>
          </a:p>
        </p:txBody>
      </p:sp>
      <p:sp>
        <p:nvSpPr>
          <p:cNvPr id="30" name="rect 28"/>
          <p:cNvSpPr/>
          <p:nvPr/>
        </p:nvSpPr>
        <p:spPr>
          <a:xfrm>
            <a:off x="9144000" y="4584700"/>
            <a:ext cx="1168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风险回报反转</a:t>
            </a:r>
          </a:p>
        </p:txBody>
      </p:sp>
      <p:sp>
        <p:nvSpPr>
          <p:cNvPr id="31" name="rect 29"/>
          <p:cNvSpPr/>
          <p:nvPr/>
        </p:nvSpPr>
        <p:spPr>
          <a:xfrm>
            <a:off x="812800" y="5054600"/>
            <a:ext cx="10566400" cy="736600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2" name="rect 30"/>
          <p:cNvSpPr/>
          <p:nvPr/>
        </p:nvSpPr>
        <p:spPr>
          <a:xfrm>
            <a:off x="1066800" y="5321300"/>
            <a:ext cx="1117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F2F5F8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GLD ATM IV</a:t>
            </a:r>
          </a:p>
        </p:txBody>
      </p:sp>
      <p:sp>
        <p:nvSpPr>
          <p:cNvPr id="33" name="rect 31"/>
          <p:cNvSpPr/>
          <p:nvPr/>
        </p:nvSpPr>
        <p:spPr>
          <a:xfrm>
            <a:off x="4013200" y="5321300"/>
            <a:ext cx="609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F2F5F8"/>
                </a:solidFill>
                <a:latin typeface="Source Han Sans SC"/>
                <a:ea typeface="PingFang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PingFang SC" sym=""/>
                  </a:ext>
                </a:extLst>
              </a:rPr>
              <a:t>16.4%</a:t>
            </a:r>
          </a:p>
        </p:txBody>
      </p:sp>
      <p:sp>
        <p:nvSpPr>
          <p:cNvPr id="34" name="rect 32"/>
          <p:cNvSpPr/>
          <p:nvPr/>
        </p:nvSpPr>
        <p:spPr>
          <a:xfrm>
            <a:off x="6807200" y="5321300"/>
            <a:ext cx="132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升至 22% 以上</a:t>
            </a:r>
          </a:p>
        </p:txBody>
      </p:sp>
      <p:sp>
        <p:nvSpPr>
          <p:cNvPr id="35" name="rect 33"/>
          <p:cNvSpPr/>
          <p:nvPr/>
        </p:nvSpPr>
        <p:spPr>
          <a:xfrm>
            <a:off x="9144000" y="53213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恐慌定价，反而接近买点</a:t>
            </a:r>
          </a:p>
        </p:txBody>
      </p:sp>
      <p:sp>
        <p:nvSpPr>
          <p:cNvPr id="36" name="rect 34"/>
          <p:cNvSpPr/>
          <p:nvPr/>
        </p:nvSpPr>
        <p:spPr>
          <a:xfrm>
            <a:off x="812800" y="5994400"/>
            <a:ext cx="105664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7" name="rect 35"/>
          <p:cNvSpPr/>
          <p:nvPr/>
        </p:nvSpPr>
        <p:spPr>
          <a:xfrm>
            <a:off x="812800" y="6134100"/>
            <a:ext cx="8445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GLD 12/18 到期持仓量集中区：300P 6,719 手 ｜ 310P 9,237 手 ｜ 385P 1,296 手 —— 下行保护集中在 300–310 美元。</a:t>
            </a:r>
          </a:p>
        </p:txBody>
      </p:sp>
      <p:sp>
        <p:nvSpPr>
          <p:cNvPr id="38" name="rect 36"/>
          <p:cNvSpPr/>
          <p:nvPr/>
        </p:nvSpPr>
        <p:spPr>
          <a:xfrm>
            <a:off x="812800" y="6413500"/>
            <a:ext cx="80137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CFTC COT 每周二数据、周五发布；实际利率与 ETF 流量为日频。阈值来自期权隐含概率与持仓结构，非主观设定。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1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812800" y="558800"/>
            <a:ext cx="558800" cy="63500"/>
          </a:xfrm>
          <a:prstGeom prst="rect">
            <a:avLst/>
          </a:prstGeom>
          <a:solidFill>
            <a:srgbClr val="E8B54D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812800" y="635000"/>
            <a:ext cx="2768600" cy="457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3000" b="1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风险与数据来源</a:t>
            </a:r>
          </a:p>
        </p:txBody>
      </p:sp>
      <p:sp>
        <p:nvSpPr>
          <p:cNvPr id="5" name="rect 4"/>
          <p:cNvSpPr/>
          <p:nvPr/>
        </p:nvSpPr>
        <p:spPr>
          <a:xfrm>
            <a:off x="812800" y="1168400"/>
            <a:ext cx="3111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RISKS &amp; SOURCES · 两个方向都有代价</a:t>
            </a:r>
          </a:p>
        </p:txBody>
      </p:sp>
      <p:sp>
        <p:nvSpPr>
          <p:cNvPr id="6" name="roundRect 1"/>
          <p:cNvSpPr/>
          <p:nvPr/>
        </p:nvSpPr>
        <p:spPr>
          <a:xfrm>
            <a:off x="812800" y="1625600"/>
            <a:ext cx="5130800" cy="2133600"/>
          </a:xfrm>
          <a:prstGeom prst="roundRect">
            <a:avLst>
              <a:gd fmla="val 4762" name="adj"/>
            </a:avLst>
          </a:prstGeom>
          <a:solidFill>
            <a:srgbClr val="16212E"/>
          </a:solidFill>
          <a:ln w="19050">
            <a:solidFill>
              <a:srgbClr val="4FB47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117600" y="1828800"/>
            <a:ext cx="1905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4FB477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↑ 上行风险：踏空</a:t>
            </a:r>
          </a:p>
        </p:txBody>
      </p:sp>
      <p:sp>
        <p:nvSpPr>
          <p:cNvPr id="8" name="rect 6"/>
          <p:cNvSpPr/>
          <p:nvPr/>
        </p:nvSpPr>
        <p:spPr>
          <a:xfrm>
            <a:off x="1117600" y="2273300"/>
            <a:ext cx="2895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实际利率 2.83% 本身是脆弱高位，</a:t>
            </a:r>
          </a:p>
        </p:txBody>
      </p:sp>
      <p:sp>
        <p:nvSpPr>
          <p:cNvPr id="9" name="rect 7"/>
          <p:cNvSpPr/>
          <p:nvPr/>
        </p:nvSpPr>
        <p:spPr>
          <a:xfrm>
            <a:off x="1117600" y="2578100"/>
            <a:ext cx="2946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一旦就业数据转弱、降息重新定价，</a:t>
            </a:r>
          </a:p>
        </p:txBody>
      </p:sp>
      <p:sp>
        <p:nvSpPr>
          <p:cNvPr id="10" name="rect 8"/>
          <p:cNvSpPr/>
          <p:nvPr/>
        </p:nvSpPr>
        <p:spPr>
          <a:xfrm>
            <a:off x="1117600" y="28829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金价会以脉冲方式反弹。</a:t>
            </a:r>
          </a:p>
        </p:txBody>
      </p:sp>
      <p:sp>
        <p:nvSpPr>
          <p:cNvPr id="11" name="rect 9"/>
          <p:cNvSpPr/>
          <p:nvPr/>
        </p:nvSpPr>
        <p:spPr>
          <a:xfrm>
            <a:off x="1117600" y="3276600"/>
            <a:ext cx="45212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ect 10"/>
          <p:cNvSpPr/>
          <p:nvPr/>
        </p:nvSpPr>
        <p:spPr>
          <a:xfrm>
            <a:off x="1117600" y="3390900"/>
            <a:ext cx="259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4FB477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完全空仓等待，也是有成本的。</a:t>
            </a:r>
          </a:p>
        </p:txBody>
      </p:sp>
      <p:sp>
        <p:nvSpPr>
          <p:cNvPr id="13" name="roundRect 2"/>
          <p:cNvSpPr/>
          <p:nvPr/>
        </p:nvSpPr>
        <p:spPr>
          <a:xfrm>
            <a:off x="6248400" y="1625600"/>
            <a:ext cx="5130800" cy="2133600"/>
          </a:xfrm>
          <a:prstGeom prst="roundRect">
            <a:avLst>
              <a:gd fmla="val 4762" name="adj"/>
            </a:avLst>
          </a:prstGeom>
          <a:solidFill>
            <a:srgbClr val="16212E"/>
          </a:solidFill>
          <a:ln w="19050">
            <a:solidFill>
              <a:srgbClr val="E057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1"/>
          <p:cNvSpPr/>
          <p:nvPr/>
        </p:nvSpPr>
        <p:spPr>
          <a:xfrm>
            <a:off x="6553200" y="1828800"/>
            <a:ext cx="19050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↓ 下行风险：套牢</a:t>
            </a:r>
          </a:p>
        </p:txBody>
      </p:sp>
      <p:sp>
        <p:nvSpPr>
          <p:cNvPr id="15" name="rect 12"/>
          <p:cNvSpPr/>
          <p:nvPr/>
        </p:nvSpPr>
        <p:spPr>
          <a:xfrm>
            <a:off x="6553200" y="2273300"/>
            <a:ext cx="2425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实际利率若向 3.0% 以上突破</a:t>
            </a:r>
          </a:p>
        </p:txBody>
      </p:sp>
      <p:sp>
        <p:nvSpPr>
          <p:cNvPr id="16" name="rect 13"/>
          <p:cNvSpPr/>
          <p:nvPr/>
        </p:nvSpPr>
        <p:spPr>
          <a:xfrm>
            <a:off x="6553200" y="2578100"/>
            <a:ext cx="3340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（30Y 已 3.22%），叠加净多 31% 持仓量</a:t>
            </a:r>
          </a:p>
        </p:txBody>
      </p:sp>
      <p:sp>
        <p:nvSpPr>
          <p:cNvPr id="17" name="rect 14"/>
          <p:cNvSpPr/>
          <p:nvPr/>
        </p:nvSpPr>
        <p:spPr>
          <a:xfrm>
            <a:off x="6553200" y="2882900"/>
            <a:ext cx="2946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的平仓，4,000 的测试会来得很快。</a:t>
            </a:r>
          </a:p>
        </p:txBody>
      </p:sp>
      <p:sp>
        <p:nvSpPr>
          <p:cNvPr id="18" name="rect 15"/>
          <p:cNvSpPr/>
          <p:nvPr/>
        </p:nvSpPr>
        <p:spPr>
          <a:xfrm>
            <a:off x="6553200" y="3276600"/>
            <a:ext cx="4521200" cy="12700"/>
          </a:xfrm>
          <a:prstGeom prst="rect">
            <a:avLst/>
          </a:prstGeom>
          <a:solidFill>
            <a:srgbClr val="2A384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ect 16"/>
          <p:cNvSpPr/>
          <p:nvPr/>
        </p:nvSpPr>
        <p:spPr>
          <a:xfrm>
            <a:off x="6553200" y="3390900"/>
            <a:ext cx="241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 b="1">
                <a:solidFill>
                  <a:srgbClr val="E0574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追高的代价大于等待的代价。</a:t>
            </a:r>
          </a:p>
        </p:txBody>
      </p:sp>
      <p:sp>
        <p:nvSpPr>
          <p:cNvPr id="20" name="roundRect 3"/>
          <p:cNvSpPr/>
          <p:nvPr/>
        </p:nvSpPr>
        <p:spPr>
          <a:xfrm>
            <a:off x="812800" y="4013200"/>
            <a:ext cx="10566400" cy="1219200"/>
          </a:xfrm>
          <a:prstGeom prst="roundRect">
            <a:avLst>
              <a:gd fmla="val 8333" name="adj"/>
            </a:avLst>
          </a:prstGeom>
          <a:solidFill>
            <a:srgbClr val="1C2A3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7"/>
          <p:cNvSpPr/>
          <p:nvPr/>
        </p:nvSpPr>
        <p:spPr>
          <a:xfrm>
            <a:off x="1117600" y="4203700"/>
            <a:ext cx="711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 b="1">
                <a:solidFill>
                  <a:srgbClr val="E8B54D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数据来源</a:t>
            </a:r>
          </a:p>
        </p:txBody>
      </p:sp>
      <p:sp>
        <p:nvSpPr>
          <p:cNvPr id="22" name="rect 18"/>
          <p:cNvSpPr/>
          <p:nvPr/>
        </p:nvSpPr>
        <p:spPr>
          <a:xfrm>
            <a:off x="1117600" y="4521200"/>
            <a:ext cx="9017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US Treasury TIPS 实际利率曲线（8/25–9/25）· CFTC COT 黄金/白银 · YFinance GLD 期权链（9/28、12/18 到期）</a:t>
            </a:r>
          </a:p>
        </p:txBody>
      </p:sp>
      <p:sp>
        <p:nvSpPr>
          <p:cNvPr id="23" name="rect 19"/>
          <p:cNvSpPr/>
          <p:nvPr/>
        </p:nvSpPr>
        <p:spPr>
          <a:xfrm>
            <a:off x="1117600" y="4826000"/>
            <a:ext cx="8432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FC0D0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Yahoo Finance GC=F / GLD / GDX / ^TNX · Polymarket（12月到期 GC 合约）· CNN FearGreed 37（恐惧）</a:t>
            </a:r>
          </a:p>
        </p:txBody>
      </p:sp>
      <p:sp>
        <p:nvSpPr>
          <p:cNvPr id="24" name="roundRect 4"/>
          <p:cNvSpPr/>
          <p:nvPr/>
        </p:nvSpPr>
        <p:spPr>
          <a:xfrm>
            <a:off x="812800" y="5435600"/>
            <a:ext cx="10566400" cy="558800"/>
          </a:xfrm>
          <a:prstGeom prst="roundRect">
            <a:avLst>
              <a:gd fmla="val 13636" name="adj"/>
            </a:avLst>
          </a:prstGeom>
          <a:solidFill>
            <a:srgbClr val="E8B54D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20"/>
          <p:cNvSpPr/>
          <p:nvPr/>
        </p:nvSpPr>
        <p:spPr>
          <a:xfrm>
            <a:off x="1117600" y="5613400"/>
            <a:ext cx="6794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F2F5F8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结论：6–12 个月正收益概率约 55%，但入场位置应在 4,200–4,250，而非现在的 4,321。</a:t>
            </a:r>
          </a:p>
        </p:txBody>
      </p:sp>
      <p:sp>
        <p:nvSpPr>
          <p:cNvPr id="26" name="rect 21"/>
          <p:cNvSpPr/>
          <p:nvPr/>
        </p:nvSpPr>
        <p:spPr>
          <a:xfrm>
            <a:off x="812800" y="6134100"/>
            <a:ext cx="68072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zh-CN" sz="11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以上为市场交易数据推导的风险回报评估，不构成个性化投资建议。仓位大小必须由自身风险承受能力决定。</a:t>
            </a:r>
          </a:p>
        </p:txBody>
      </p:sp>
      <p:sp>
        <p:nvSpPr>
          <p:cNvPr id="27" name="rect 22"/>
          <p:cNvSpPr/>
          <p:nvPr/>
        </p:nvSpPr>
        <p:spPr>
          <a:xfrm>
            <a:off x="812800" y="6413500"/>
            <a:ext cx="7835900" cy="165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8000"/>
              </a:lnSpc>
              <a:buNone/>
            </a:pPr>
            <a:r>
              <a:rPr lang="zh-CN" sz="11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分析日 2026-09-27 ｜ 价格基准 2026-09-25 收盘 ｜ Polymarket 流动性极薄（12月 4,500 合约仅 0.1 USD）故仅作对照</a:t>
            </a:r>
          </a:p>
        </p:txBody>
      </p:sp>
      <p:sp>
        <p:nvSpPr>
          <p:cNvPr id="28" name="rect 23"/>
          <p:cNvSpPr/>
          <p:nvPr/>
        </p:nvSpPr>
        <p:spPr>
          <a:xfrm>
            <a:off x="812800" y="6642100"/>
            <a:ext cx="5435600" cy="152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75000"/>
              </a:lnSpc>
              <a:buNone/>
            </a:pPr>
            <a:r>
              <a:rPr lang="zh-CN" sz="1000">
                <a:solidFill>
                  <a:srgbClr val="7A8A9A"/>
                </a:solidFill>
                <a:latin typeface="Source Han Sans SC"/>
                <a:ea typeface="Source Han Sans SC"/>
                <a:extLst>
                  <a:ext uri="https://univer.ai/xml/pptx/font-fallback/2026/main">
                    <uf:fontFallback xmlns:uf="https://univer.ai/xml/pptx/font-fallback/2026/main" family="Source Han Sans SC, PingFang SC, Helvetica, Arial, sans-serif" latin="Source Han Sans SC" ea="Source Han Sans SC" sym=""/>
                  </a:ext>
                </a:extLst>
              </a:rPr>
              <a:t>方法论：Digital Oracle —— 仅使用真实成交数据，多信号交叉验证，每个信号标注时间窗口。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黄金做多决策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黄金做多决策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